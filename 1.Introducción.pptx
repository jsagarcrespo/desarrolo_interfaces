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4" r:id="rId1"/>
  </p:sldMasterIdLst>
  <p:notesMasterIdLst>
    <p:notesMasterId r:id="rId49"/>
  </p:notesMasterIdLst>
  <p:sldIdLst>
    <p:sldId id="256" r:id="rId2"/>
    <p:sldId id="257" r:id="rId3"/>
    <p:sldId id="276" r:id="rId4"/>
    <p:sldId id="262" r:id="rId5"/>
    <p:sldId id="258" r:id="rId6"/>
    <p:sldId id="260" r:id="rId7"/>
    <p:sldId id="266" r:id="rId8"/>
    <p:sldId id="263" r:id="rId9"/>
    <p:sldId id="281" r:id="rId10"/>
    <p:sldId id="265" r:id="rId11"/>
    <p:sldId id="267" r:id="rId12"/>
    <p:sldId id="269" r:id="rId13"/>
    <p:sldId id="268" r:id="rId14"/>
    <p:sldId id="313" r:id="rId15"/>
    <p:sldId id="272" r:id="rId16"/>
    <p:sldId id="273" r:id="rId17"/>
    <p:sldId id="314" r:id="rId18"/>
    <p:sldId id="275" r:id="rId19"/>
    <p:sldId id="280" r:id="rId20"/>
    <p:sldId id="282" r:id="rId21"/>
    <p:sldId id="288" r:id="rId22"/>
    <p:sldId id="289" r:id="rId23"/>
    <p:sldId id="290" r:id="rId24"/>
    <p:sldId id="300" r:id="rId25"/>
    <p:sldId id="283" r:id="rId26"/>
    <p:sldId id="302" r:id="rId27"/>
    <p:sldId id="284" r:id="rId28"/>
    <p:sldId id="303" r:id="rId29"/>
    <p:sldId id="261" r:id="rId30"/>
    <p:sldId id="271" r:id="rId31"/>
    <p:sldId id="259" r:id="rId32"/>
    <p:sldId id="285" r:id="rId33"/>
    <p:sldId id="286" r:id="rId34"/>
    <p:sldId id="304" r:id="rId35"/>
    <p:sldId id="264" r:id="rId36"/>
    <p:sldId id="287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310" r:id="rId45"/>
    <p:sldId id="311" r:id="rId46"/>
    <p:sldId id="312" r:id="rId47"/>
    <p:sldId id="301" r:id="rId4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zitzaile" initials="H" lastIdx="4" clrIdx="0">
    <p:extLst>
      <p:ext uri="{19B8F6BF-5375-455C-9EA6-DF929625EA0E}">
        <p15:presenceInfo xmlns:p15="http://schemas.microsoft.com/office/powerpoint/2012/main" userId="f7fe8a50f7af261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E463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49" d="100"/>
          <a:sy n="49" d="100"/>
        </p:scale>
        <p:origin x="126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3" d="100"/>
          <a:sy n="43" d="100"/>
        </p:scale>
        <p:origin x="2804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9-21T17:39:56.429" idx="3">
    <p:pos x="7315" y="106"/>
    <p:text>https://docs.microsoft.com/es-es/dotnet/visual-basic/programming-guide/language-features/objects-and-classes/walkthrough-defining-classes</p:text>
    <p:extLst>
      <p:ext uri="{C676402C-5697-4E1C-873F-D02D1690AC5C}">
        <p15:threadingInfo xmlns:p15="http://schemas.microsoft.com/office/powerpoint/2012/main" timeZoneBias="-12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0FE190-DD28-4320-AF5F-6289EF6739AC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5D92F2-B930-4A18-B542-DC21EBF06B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6791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25755A-115E-A6B4-843C-782C2086ADF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3906" y="1122474"/>
            <a:ext cx="9143868" cy="2387666"/>
          </a:xfrm>
        </p:spPr>
        <p:txBody>
          <a:bodyPr anchor="b"/>
          <a:lstStyle>
            <a:lvl1pPr>
              <a:defRPr sz="4500"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695EF3F-7232-5200-2A52-16517558241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3906" y="3601911"/>
            <a:ext cx="9143868" cy="1655788"/>
          </a:xfrm>
        </p:spPr>
        <p:txBody>
          <a:bodyPr anchorCtr="1"/>
          <a:lstStyle>
            <a:lvl1pPr marL="0" indent="0" algn="ctr">
              <a:buNone/>
              <a:defRPr sz="1796"/>
            </a:lvl1pPr>
          </a:lstStyle>
          <a:p>
            <a:pPr lvl="0"/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8AEB3E-5794-2D9F-B456-1882A2D63F5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fld id="{5579B63A-FFEC-4F92-9FAC-56E2BCDF274E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4DCD5C-79A1-F9B4-F3EB-A998C0635C7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ECDA2E7-1BA9-4123-263C-16122B4BE6F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A730843C-887C-4F8B-8DCA-3AA8F41424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549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0AEF85-E971-6222-7D3D-12D5DC1011A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03B909-3B0C-929F-8F78-CB4855C95CE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147" y="1825613"/>
            <a:ext cx="10515383" cy="4351425"/>
          </a:xfrm>
        </p:spPr>
        <p:txBody>
          <a:bodyPr anchor="t" anchorCtr="0"/>
          <a:lstStyle>
            <a:lvl1pPr marL="171461" indent="-171461" algn="l">
              <a:spcBef>
                <a:spcPts val="748"/>
              </a:spcBef>
              <a:buClr>
                <a:srgbClr val="E4637C"/>
              </a:buClr>
              <a:buSzPct val="100000"/>
              <a:buFont typeface="Arial" pitchFamily="34"/>
              <a:buChar char="•"/>
              <a:defRPr sz="2105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18"/>
                <a:ea typeface="Microsoft YaHei" pitchFamily="2"/>
                <a:cs typeface="Lucida Sans" pitchFamily="2"/>
              </a:defRPr>
            </a:lvl1pPr>
            <a:lvl2pPr marL="514382" marR="0" lvl="1" indent="-171461" algn="l" rtl="0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rgbClr val="E4637C"/>
              </a:buClr>
              <a:buSzPct val="100000"/>
              <a:buFont typeface="Arial" pitchFamily="34"/>
              <a:buChar char="•"/>
              <a:tabLst/>
              <a:defRPr lang="es-ES" sz="1796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2pPr>
            <a:lvl3pPr marL="857304" marR="0" lvl="2" indent="-171461" algn="l" rtl="0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rgbClr val="E4637C"/>
              </a:buClr>
              <a:buSzPct val="100000"/>
              <a:buFont typeface="Arial" pitchFamily="34"/>
              <a:buChar char="•"/>
              <a:tabLst/>
              <a:defRPr lang="es-ES" sz="1506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3pPr>
            <a:lvl4pPr marL="1200226" marR="0" lvl="3" indent="-171461" algn="l" rtl="0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rgbClr val="E4637C"/>
              </a:buClr>
              <a:buSzPct val="100000"/>
              <a:buFont typeface="Arial" pitchFamily="34"/>
              <a:buChar char="•"/>
              <a:tabLst/>
              <a:defRPr lang="es-ES" sz="1352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4pPr>
            <a:lvl5pPr marL="1543146" marR="0" lvl="4" indent="-171461" algn="l" rtl="0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rgbClr val="E4637C"/>
              </a:buClr>
              <a:buSzPct val="100000"/>
              <a:buFont typeface="Arial" pitchFamily="34"/>
              <a:buChar char="•"/>
              <a:tabLst/>
              <a:defRPr lang="es-ES" sz="1352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5pPr>
          </a:lstStyle>
          <a:p>
            <a:pPr lv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F04E91-FD34-E84C-1290-F4A93E9DB11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fld id="{5579B63A-FFEC-4F92-9FAC-56E2BCDF274E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6288AA-83C8-FA3A-7EA6-F46466AC3A2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B00B606-C955-72CC-DF4E-2CE18A14909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A730843C-887C-4F8B-8DCA-3AA8F41424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9301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C098A8-79C1-574B-CD57-EE7D209D58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2052" y="1709675"/>
            <a:ext cx="10515383" cy="2852724"/>
          </a:xfrm>
        </p:spPr>
        <p:txBody>
          <a:bodyPr anchor="b"/>
          <a:lstStyle>
            <a:lvl1pPr>
              <a:defRPr sz="4500"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BE3D6A2-5AFD-4E12-60BB-C74526AEDF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2052" y="4589507"/>
            <a:ext cx="10515383" cy="1500333"/>
          </a:xfrm>
        </p:spPr>
        <p:txBody>
          <a:bodyPr/>
          <a:lstStyle>
            <a:lvl1pPr marL="0" indent="0">
              <a:defRPr sz="1796">
                <a:solidFill>
                  <a:srgbClr val="898989"/>
                </a:solidFill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800A6B-B32A-634B-A1B7-1EBD7EB9207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fld id="{5579B63A-FFEC-4F92-9FAC-56E2BCDF274E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9F1A3A-2299-6903-E2F4-130A096A096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CC4F4B-15C3-C3C7-96B2-C68D90FB9C7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A730843C-887C-4F8B-8DCA-3AA8F41424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5804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DC1C31-EF14-5669-EE84-04B50C0FF13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DDAB9A-D061-6D5D-D701-C8583B91D34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8147" y="1825613"/>
            <a:ext cx="5181714" cy="4351425"/>
          </a:xfrm>
        </p:spPr>
        <p:txBody>
          <a:bodyPr anchor="t" anchorCtr="0"/>
          <a:lstStyle>
            <a:lvl1pPr marL="171461" indent="-171461" algn="l">
              <a:spcBef>
                <a:spcPts val="748"/>
              </a:spcBef>
              <a:buClr>
                <a:srgbClr val="E4637C"/>
              </a:buClr>
              <a:buSzPct val="100000"/>
              <a:buFont typeface="Arial" pitchFamily="34"/>
              <a:buChar char="•"/>
              <a:defRPr sz="2105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18"/>
                <a:ea typeface="Microsoft YaHei" pitchFamily="2"/>
                <a:cs typeface="Lucida Sans" pitchFamily="2"/>
              </a:defRPr>
            </a:lvl1pPr>
            <a:lvl2pPr marL="514382" marR="0" lvl="1" indent="-171461" algn="l" rtl="0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rgbClr val="E4637C"/>
              </a:buClr>
              <a:buSzPct val="100000"/>
              <a:buFont typeface="Arial" pitchFamily="34"/>
              <a:buChar char="•"/>
              <a:tabLst/>
              <a:defRPr lang="es-ES" sz="1796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2pPr>
            <a:lvl3pPr marL="857304" marR="0" lvl="2" indent="-171461" algn="l" rtl="0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rgbClr val="E4637C"/>
              </a:buClr>
              <a:buSzPct val="100000"/>
              <a:buFont typeface="Arial" pitchFamily="34"/>
              <a:buChar char="•"/>
              <a:tabLst/>
              <a:defRPr lang="es-ES" sz="1506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3pPr>
            <a:lvl4pPr marL="1200226" marR="0" lvl="3" indent="-171461" algn="l" rtl="0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rgbClr val="E4637C"/>
              </a:buClr>
              <a:buSzPct val="100000"/>
              <a:buFont typeface="Arial" pitchFamily="34"/>
              <a:buChar char="•"/>
              <a:tabLst/>
              <a:defRPr lang="es-ES" sz="1352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4pPr>
            <a:lvl5pPr marL="1543146" marR="0" lvl="4" indent="-171461" algn="l" rtl="0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rgbClr val="E4637C"/>
              </a:buClr>
              <a:buSzPct val="100000"/>
              <a:buFont typeface="Arial" pitchFamily="34"/>
              <a:buChar char="•"/>
              <a:tabLst/>
              <a:defRPr lang="es-ES" sz="1352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5pPr>
          </a:lstStyle>
          <a:p>
            <a:pPr lv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A29E7A0-CF80-92D8-DF65-4993BD73ED2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172253" y="1825613"/>
            <a:ext cx="5181714" cy="4351425"/>
          </a:xfrm>
        </p:spPr>
        <p:txBody>
          <a:bodyPr anchor="t" anchorCtr="0"/>
          <a:lstStyle>
            <a:lvl1pPr marL="171461" indent="-171461" algn="l">
              <a:spcBef>
                <a:spcPts val="748"/>
              </a:spcBef>
              <a:buClr>
                <a:srgbClr val="E4637C"/>
              </a:buClr>
              <a:buSzPct val="100000"/>
              <a:buFont typeface="Arial" pitchFamily="34"/>
              <a:buChar char="•"/>
              <a:defRPr sz="2105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18"/>
                <a:ea typeface="Microsoft YaHei" pitchFamily="2"/>
                <a:cs typeface="Lucida Sans" pitchFamily="2"/>
              </a:defRPr>
            </a:lvl1pPr>
            <a:lvl2pPr marL="514382" marR="0" lvl="1" indent="-171461" algn="l" rtl="0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rgbClr val="E4637C"/>
              </a:buClr>
              <a:buSzPct val="100000"/>
              <a:buFont typeface="Arial" pitchFamily="34"/>
              <a:buChar char="•"/>
              <a:tabLst/>
              <a:defRPr lang="es-ES" sz="1796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2pPr>
            <a:lvl3pPr marL="857304" marR="0" lvl="2" indent="-171461" algn="l" rtl="0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rgbClr val="E4637C"/>
              </a:buClr>
              <a:buSzPct val="100000"/>
              <a:buFont typeface="Arial" pitchFamily="34"/>
              <a:buChar char="•"/>
              <a:tabLst/>
              <a:defRPr lang="es-ES" sz="1506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3pPr>
            <a:lvl4pPr marL="1200226" marR="0" lvl="3" indent="-171461" algn="l" rtl="0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rgbClr val="E4637C"/>
              </a:buClr>
              <a:buSzPct val="100000"/>
              <a:buFont typeface="Arial" pitchFamily="34"/>
              <a:buChar char="•"/>
              <a:tabLst/>
              <a:defRPr lang="es-ES" sz="1352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4pPr>
            <a:lvl5pPr marL="1543146" marR="0" lvl="4" indent="-171461" algn="l" rtl="0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rgbClr val="E4637C"/>
              </a:buClr>
              <a:buSzPct val="100000"/>
              <a:buFont typeface="Arial" pitchFamily="34"/>
              <a:buChar char="•"/>
              <a:tabLst/>
              <a:defRPr lang="es-ES" sz="1352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5pPr>
          </a:lstStyle>
          <a:p>
            <a:pPr lv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2553961-AD61-35C4-D777-64F76AD8EC3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fld id="{5579B63A-FFEC-4F92-9FAC-56E2BCDF274E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6460E62-B45F-24A5-ED55-A76E273D61B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D13E604-A4DB-9321-643E-17F853F2461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A730843C-887C-4F8B-8DCA-3AA8F41424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6336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360765-1375-258E-06E0-46EECBE077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889" y="365123"/>
            <a:ext cx="10515383" cy="132561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0A982D8-3D7D-8A21-C365-028A9F9926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889" y="1681262"/>
            <a:ext cx="5157767" cy="823975"/>
          </a:xfrm>
        </p:spPr>
        <p:txBody>
          <a:bodyPr anchor="b"/>
          <a:lstStyle>
            <a:lvl1pPr marL="0" indent="0">
              <a:defRPr sz="1796" b="1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0F4C938-B434-7C21-A7AD-C8C7CB635FA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839889" y="2504911"/>
            <a:ext cx="5157767" cy="3684537"/>
          </a:xfrm>
        </p:spPr>
        <p:txBody>
          <a:bodyPr anchor="t" anchorCtr="0"/>
          <a:lstStyle>
            <a:lvl1pPr marL="171461" indent="-171461" algn="l">
              <a:spcBef>
                <a:spcPts val="748"/>
              </a:spcBef>
              <a:buClr>
                <a:srgbClr val="E4637C"/>
              </a:buClr>
              <a:buSzPct val="100000"/>
              <a:buFont typeface="Arial" pitchFamily="34"/>
              <a:buChar char="•"/>
              <a:defRPr sz="2105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18"/>
                <a:ea typeface="Microsoft YaHei" pitchFamily="2"/>
                <a:cs typeface="Lucida Sans" pitchFamily="2"/>
              </a:defRPr>
            </a:lvl1pPr>
            <a:lvl2pPr marL="514382" marR="0" lvl="1" indent="-171461" algn="l" rtl="0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rgbClr val="E4637C"/>
              </a:buClr>
              <a:buSzPct val="100000"/>
              <a:buFont typeface="Arial" pitchFamily="34"/>
              <a:buChar char="•"/>
              <a:tabLst/>
              <a:defRPr lang="es-ES" sz="1796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2pPr>
            <a:lvl3pPr marL="857304" marR="0" lvl="2" indent="-171461" algn="l" rtl="0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rgbClr val="E4637C"/>
              </a:buClr>
              <a:buSzPct val="100000"/>
              <a:buFont typeface="Arial" pitchFamily="34"/>
              <a:buChar char="•"/>
              <a:tabLst/>
              <a:defRPr lang="es-ES" sz="1506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3pPr>
            <a:lvl4pPr marL="1200226" marR="0" lvl="3" indent="-171461" algn="l" rtl="0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rgbClr val="E4637C"/>
              </a:buClr>
              <a:buSzPct val="100000"/>
              <a:buFont typeface="Arial" pitchFamily="34"/>
              <a:buChar char="•"/>
              <a:tabLst/>
              <a:defRPr lang="es-ES" sz="1352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4pPr>
            <a:lvl5pPr marL="1543146" marR="0" lvl="4" indent="-171461" algn="l" rtl="0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rgbClr val="E4637C"/>
              </a:buClr>
              <a:buSzPct val="100000"/>
              <a:buFont typeface="Arial" pitchFamily="34"/>
              <a:buChar char="•"/>
              <a:tabLst/>
              <a:defRPr lang="es-ES" sz="1352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5pPr>
          </a:lstStyle>
          <a:p>
            <a:pPr lv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E8CF776-CD77-558D-7D00-8B6015FFB6C4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53" y="1681262"/>
            <a:ext cx="5183020" cy="823975"/>
          </a:xfrm>
        </p:spPr>
        <p:txBody>
          <a:bodyPr anchor="b"/>
          <a:lstStyle>
            <a:lvl1pPr marL="0" indent="0">
              <a:buNone/>
              <a:defRPr sz="1796" b="1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30A4E13-4341-869D-0EF1-5C6A4190E93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172253" y="2504911"/>
            <a:ext cx="5183020" cy="3684537"/>
          </a:xfrm>
        </p:spPr>
        <p:txBody>
          <a:bodyPr anchor="t" anchorCtr="0"/>
          <a:lstStyle>
            <a:lvl1pPr marL="171461" indent="-171461" algn="l">
              <a:spcBef>
                <a:spcPts val="748"/>
              </a:spcBef>
              <a:buClr>
                <a:srgbClr val="E4637C"/>
              </a:buClr>
              <a:buSzPct val="100000"/>
              <a:buFont typeface="Arial" pitchFamily="34"/>
              <a:buChar char="•"/>
              <a:defRPr sz="2105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18"/>
                <a:ea typeface="Microsoft YaHei" pitchFamily="2"/>
                <a:cs typeface="Lucida Sans" pitchFamily="2"/>
              </a:defRPr>
            </a:lvl1pPr>
            <a:lvl2pPr marL="514382" marR="0" lvl="1" indent="-171461" algn="l" rtl="0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rgbClr val="E4637C"/>
              </a:buClr>
              <a:buSzPct val="100000"/>
              <a:buFont typeface="Arial" pitchFamily="34"/>
              <a:buChar char="•"/>
              <a:tabLst/>
              <a:defRPr lang="es-ES" sz="1796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2pPr>
            <a:lvl3pPr marL="857304" marR="0" lvl="2" indent="-171461" algn="l" rtl="0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rgbClr val="E4637C"/>
              </a:buClr>
              <a:buSzPct val="100000"/>
              <a:buFont typeface="Arial" pitchFamily="34"/>
              <a:buChar char="•"/>
              <a:tabLst/>
              <a:defRPr lang="es-ES" sz="1506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3pPr>
            <a:lvl4pPr marL="1200226" marR="0" lvl="3" indent="-171461" algn="l" rtl="0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rgbClr val="E4637C"/>
              </a:buClr>
              <a:buSzPct val="100000"/>
              <a:buFont typeface="Arial" pitchFamily="34"/>
              <a:buChar char="•"/>
              <a:tabLst/>
              <a:defRPr lang="es-ES" sz="1352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4pPr>
            <a:lvl5pPr marL="1543146" marR="0" lvl="4" indent="-171461" algn="l" rtl="0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rgbClr val="E4637C"/>
              </a:buClr>
              <a:buSzPct val="100000"/>
              <a:buFont typeface="Arial" pitchFamily="34"/>
              <a:buChar char="•"/>
              <a:tabLst/>
              <a:defRPr lang="es-ES" sz="1352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5pPr>
          </a:lstStyle>
          <a:p>
            <a:pPr lv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D66C8B8-B459-91D7-4D47-6A7F2F601EE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fld id="{5579B63A-FFEC-4F92-9FAC-56E2BCDF274E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0F4B9AB-CB69-331F-2A87-732423C9FFF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088EB87-4984-09E2-277C-C889B1F2B10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A730843C-887C-4F8B-8DCA-3AA8F41424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3666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BA5E50-1D6C-33F8-8A4F-20B95E85992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CB3629C-E1E3-2B82-AFB5-EF8A65DF1E2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fld id="{5579B63A-FFEC-4F92-9FAC-56E2BCDF274E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E9B304C-D206-F3C3-3AFE-BEDCF7BDA00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95FC670-42E4-7B64-56B5-EC5ACF8CBF4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A730843C-887C-4F8B-8DCA-3AA8F41424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8196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8D2CA2A-9808-B4B8-F0E6-75F930CC7CE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fld id="{5579B63A-FFEC-4F92-9FAC-56E2BCDF274E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D3590E2-C483-2FE7-EC69-82F863AC979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DD5E4BE-35CD-4BE8-A8FF-F1F9F5A46EFB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A730843C-887C-4F8B-8DCA-3AA8F41424DC}" type="slidenum">
              <a:rPr lang="es-ES" smtClean="0"/>
              <a:t>‹Nº›</a:t>
            </a:fld>
            <a:endParaRPr lang="es-ES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CF8ADCF-AF9C-40FD-0FDF-C64C8FDB7CB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609561" y="273352"/>
            <a:ext cx="10972120" cy="1144682"/>
          </a:xfrm>
        </p:spPr>
        <p:txBody>
          <a:bodyPr lIns="0" tIns="0" rIns="0" bIns="0"/>
          <a:lstStyle>
            <a:lvl1pPr hangingPunct="0">
              <a:defRPr sz="3992">
                <a:latin typeface="Liberation Sans" pitchFamily="18"/>
                <a:ea typeface="Microsoft YaHei" pitchFamily="2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3C6BF242-B5F8-1104-CB29-32C3062079C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09561" y="1604514"/>
            <a:ext cx="10972120" cy="3977158"/>
          </a:xfrm>
        </p:spPr>
        <p:txBody>
          <a:bodyPr lIns="0" tIns="0" rIns="0" bIns="0"/>
          <a:lstStyle>
            <a:lvl1pPr hangingPunct="0">
              <a:spcBef>
                <a:spcPts val="1286"/>
              </a:spcBef>
              <a:defRPr sz="2903">
                <a:latin typeface="Liberation Sans" pitchFamily="18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2123225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E3D7F9-2A9E-8638-C005-E8DFD2580F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890" y="457219"/>
            <a:ext cx="3932110" cy="1600269"/>
          </a:xfrm>
        </p:spPr>
        <p:txBody>
          <a:bodyPr anchor="b"/>
          <a:lstStyle>
            <a:lvl1pPr>
              <a:defRPr sz="2395"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A3F2AE-5B80-5DE3-268D-07E8656E1AD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183020" y="987268"/>
            <a:ext cx="6172253" cy="4873635"/>
          </a:xfrm>
        </p:spPr>
        <p:txBody>
          <a:bodyPr anchor="t" anchorCtr="0"/>
          <a:lstStyle>
            <a:lvl1pPr marL="171461" indent="-171461" algn="l">
              <a:spcBef>
                <a:spcPts val="748"/>
              </a:spcBef>
              <a:buClr>
                <a:srgbClr val="E4637C"/>
              </a:buClr>
              <a:buSzPct val="100000"/>
              <a:buFont typeface="Arial" pitchFamily="34"/>
              <a:buChar char="•"/>
              <a:defRPr sz="2395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18"/>
                <a:ea typeface="Microsoft YaHei" pitchFamily="2"/>
                <a:cs typeface="Lucida Sans" pitchFamily="2"/>
              </a:defRPr>
            </a:lvl1pPr>
            <a:lvl2pPr marL="514382" marR="0" lvl="1" indent="-171461" algn="l" rtl="0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rgbClr val="E4637C"/>
              </a:buClr>
              <a:buSzPct val="100000"/>
              <a:buFont typeface="Arial" pitchFamily="34"/>
              <a:buChar char="•"/>
              <a:tabLst/>
              <a:defRPr lang="es-ES" sz="2105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2pPr>
            <a:lvl3pPr marL="857304" marR="0" lvl="2" indent="-171461" algn="l" rtl="0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rgbClr val="E4637C"/>
              </a:buClr>
              <a:buSzPct val="100000"/>
              <a:buFont typeface="Arial" pitchFamily="34"/>
              <a:buChar char="•"/>
              <a:tabLst/>
              <a:defRPr lang="es-ES" sz="1796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3pPr>
            <a:lvl4pPr marL="1200226" marR="0" lvl="3" indent="-171461" algn="l" rtl="0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rgbClr val="E4637C"/>
              </a:buClr>
              <a:buSzPct val="100000"/>
              <a:buFont typeface="Arial" pitchFamily="34"/>
              <a:buChar char="•"/>
              <a:tabLst/>
              <a:defRPr lang="es-ES" sz="1506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4pPr>
            <a:lvl5pPr marL="1543146" marR="0" lvl="4" indent="-171461" algn="l" rtl="0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Clr>
                <a:srgbClr val="E4637C"/>
              </a:buClr>
              <a:buSzPct val="100000"/>
              <a:buFont typeface="Arial" pitchFamily="34"/>
              <a:buChar char="•"/>
              <a:tabLst/>
              <a:defRPr lang="es-ES" sz="1506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5pPr>
          </a:lstStyle>
          <a:p>
            <a:pPr lv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0A7CE0E-F507-CDD0-B59F-087E1126DD4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890" y="2057488"/>
            <a:ext cx="3932110" cy="3811579"/>
          </a:xfrm>
        </p:spPr>
        <p:txBody>
          <a:bodyPr/>
          <a:lstStyle>
            <a:lvl1pPr marL="0" indent="0">
              <a:defRPr sz="1198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F2BC0FB-41FA-495C-30D0-435843BB7E8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fld id="{5579B63A-FFEC-4F92-9FAC-56E2BCDF274E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1E24F6F-9643-19D9-0B13-4AF0F929170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10F844A-2BE8-15D9-F1DA-2445B120C0F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A730843C-887C-4F8B-8DCA-3AA8F41424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18411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B5B31C-E787-5E57-C2D8-682C24C710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890" y="457219"/>
            <a:ext cx="3932110" cy="1600269"/>
          </a:xfrm>
        </p:spPr>
        <p:txBody>
          <a:bodyPr anchor="b"/>
          <a:lstStyle>
            <a:lvl1pPr>
              <a:defRPr sz="2395"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CD4E375-6348-8AB9-047F-B0AD6399787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183020" y="987268"/>
            <a:ext cx="6172253" cy="4873635"/>
          </a:xfrm>
        </p:spPr>
        <p:txBody>
          <a:bodyPr anchor="t" anchorCtr="0"/>
          <a:lstStyle>
            <a:lvl1pPr algn="l">
              <a:spcBef>
                <a:spcPts val="748"/>
              </a:spcBef>
              <a:defRPr sz="2395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18"/>
                <a:ea typeface="Microsoft YaHei" pitchFamily="2"/>
                <a:cs typeface="Lucida Sans" pitchFamily="2"/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484B9F-3846-C482-A127-7D8F76F2037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890" y="2057488"/>
            <a:ext cx="3932110" cy="3811579"/>
          </a:xfrm>
        </p:spPr>
        <p:txBody>
          <a:bodyPr/>
          <a:lstStyle>
            <a:lvl1pPr marL="0" indent="0">
              <a:defRPr sz="1198"/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7167C46-88D0-FF57-F6EE-A7D8EC540D0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fld id="{5579B63A-FFEC-4F92-9FAC-56E2BCDF274E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8EC85C0-2170-5FF3-D856-35A966DB1F8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067B904-5A3D-D1D0-85B4-A93CB2A17E1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A730843C-887C-4F8B-8DCA-3AA8F41424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90405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6D34E4-A5AF-CD0A-7E49-FCB37F80FD5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E56F493-C0F5-A4EF-A3D4-9F49CC056FB8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882D94-3613-7C79-4C18-53E2042FA23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fld id="{5579B63A-FFEC-4F92-9FAC-56E2BCDF274E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F74F4D-C302-7944-5EA7-EE3EEC88EE9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017518-02F7-F7A3-A3F2-35B26BE90B8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A730843C-887C-4F8B-8DCA-3AA8F41424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47157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5AA1FDE-B38B-23B0-887D-6A131E1F9E60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5012" y="365123"/>
            <a:ext cx="2628955" cy="5811915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6C34ED6-A066-1882-980D-B01C8F6B340F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147" y="365123"/>
            <a:ext cx="7734474" cy="5811915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FDB436-9D67-42FE-F223-EB8D2330BF5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fld id="{5579B63A-FFEC-4F92-9FAC-56E2BCDF274E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730971-E243-26C5-20E2-46D0D48DECD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C7E00F-F1FC-8419-89FF-3C2FDF4B3D8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fld id="{A730843C-887C-4F8B-8DCA-3AA8F41424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922811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9B63A-FFEC-4F92-9FAC-56E2BCDF274E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0843C-887C-4F8B-8DCA-3AA8F41424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8224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8C0447C-467C-5408-6937-1F9641334A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147" y="365123"/>
            <a:ext cx="10515383" cy="132561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>
            <a:normAutofit/>
          </a:bodyPr>
          <a:lstStyle/>
          <a:p>
            <a:pPr lvl="0"/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5C0064-CFB4-C287-DD7C-2777508743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147" y="1825613"/>
            <a:ext cx="10515383" cy="43514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>
            <a:normAutofit/>
          </a:bodyPr>
          <a:lstStyle/>
          <a:p>
            <a:pPr lvl="0"/>
            <a:r>
              <a:rPr lang="es-ES" dirty="0"/>
              <a:t>Editar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A52253-1843-5FC5-84D0-B6EE173BA66E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147" y="6356332"/>
            <a:ext cx="2743030" cy="36512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lvl="0" rtl="0" hangingPunct="0">
              <a:buNone/>
              <a:tabLst/>
              <a:defRPr lang="es-ES" sz="2177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fld id="{5579B63A-FFEC-4F92-9FAC-56E2BCDF274E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B6C20CD-89EE-E42F-016B-ABB20FA66D9E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785" y="6356332"/>
            <a:ext cx="4114980" cy="36512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>
            <a:noAutofit/>
          </a:bodyPr>
          <a:lstStyle>
            <a:lvl1pPr lvl="0" rtl="0" hangingPunct="0">
              <a:buNone/>
              <a:tabLst/>
              <a:defRPr lang="es-ES" sz="2177" kern="1200"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81C8E1-2180-6CF8-56ED-B7D1BA78A61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502" y="6356332"/>
            <a:ext cx="2743030" cy="36512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Autofit/>
          </a:bodyPr>
          <a:lstStyle>
            <a:lvl1pPr marL="0" marR="0" lvl="0" indent="0" algn="r" rtl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s-ES" sz="898" b="0" i="0" u="none" strike="noStrike" kern="1200" cap="none" spc="0" baseline="0">
                <a:solidFill>
                  <a:srgbClr val="898989"/>
                </a:solidFill>
                <a:latin typeface="Calibri"/>
                <a:ea typeface="Segoe UI" pitchFamily="2"/>
                <a:cs typeface="Tahoma" pitchFamily="2"/>
              </a:defRPr>
            </a:lvl1pPr>
          </a:lstStyle>
          <a:p>
            <a:fld id="{A730843C-887C-4F8B-8DCA-3AA8F41424D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8169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69" r:id="rId5"/>
    <p:sldLayoutId id="2147483870" r:id="rId6"/>
    <p:sldLayoutId id="2147483871" r:id="rId7"/>
    <p:sldLayoutId id="2147483872" r:id="rId8"/>
    <p:sldLayoutId id="2147483873" r:id="rId9"/>
    <p:sldLayoutId id="2147483874" r:id="rId10"/>
    <p:sldLayoutId id="2147483875" r:id="rId11"/>
    <p:sldLayoutId id="2147483876" r:id="rId12"/>
  </p:sldLayoutIdLst>
  <p:txStyles>
    <p:titleStyle>
      <a:lvl1pPr marL="0" marR="0" lvl="0" indent="0" algn="ctr" rtl="0" eaLnBrk="1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s-ES" sz="4355" b="0" i="0" u="none" strike="noStrike" kern="1200" cap="none" spc="0" baseline="0">
          <a:ln>
            <a:noFill/>
          </a:ln>
          <a:solidFill>
            <a:srgbClr val="E4637C"/>
          </a:solidFill>
          <a:highlight>
            <a:scrgbClr r="0" g="0" b="0">
              <a:alpha val="0"/>
            </a:scrgbClr>
          </a:highlight>
          <a:latin typeface="Liberation Sans" pitchFamily="34"/>
          <a:ea typeface="Liberation Sans" pitchFamily="34"/>
          <a:cs typeface="Liberation Sans" pitchFamily="34"/>
        </a:defRPr>
      </a:lvl1pPr>
    </p:titleStyle>
    <p:bodyStyle>
      <a:lvl1pPr marL="171461" marR="0" lvl="0" indent="-171461" algn="l" rtl="0" eaLnBrk="1" hangingPunct="1">
        <a:lnSpc>
          <a:spcPct val="90000"/>
        </a:lnSpc>
        <a:spcBef>
          <a:spcPts val="748"/>
        </a:spcBef>
        <a:spcAft>
          <a:spcPts val="0"/>
        </a:spcAft>
        <a:buSzPct val="45000"/>
        <a:buFont typeface="StarSymbol"/>
        <a:buChar char="●"/>
        <a:tabLst/>
        <a:defRPr lang="es-ES" sz="2105" b="0" i="0" u="none" strike="noStrike" kern="1200" cap="none" spc="0" baseline="0">
          <a:ln>
            <a:noFill/>
          </a:ln>
          <a:solidFill>
            <a:schemeClr val="tx1">
              <a:lumMod val="50000"/>
              <a:lumOff val="50000"/>
            </a:schemeClr>
          </a:solidFill>
          <a:highlight>
            <a:scrgbClr r="0" g="0" b="0">
              <a:alpha val="0"/>
            </a:scrgbClr>
          </a:highlight>
          <a:latin typeface="Calibri" pitchFamily="18"/>
          <a:ea typeface="Microsoft YaHei" pitchFamily="2"/>
          <a:cs typeface="Lucida Sans" pitchFamily="2"/>
        </a:defRPr>
      </a:lvl1pPr>
      <a:lvl2pPr marL="514382" marR="0" lvl="1" indent="-171461" algn="l" rtl="0" eaLnBrk="1" hangingPunct="1">
        <a:lnSpc>
          <a:spcPct val="90000"/>
        </a:lnSpc>
        <a:spcBef>
          <a:spcPts val="376"/>
        </a:spcBef>
        <a:spcAft>
          <a:spcPts val="0"/>
        </a:spcAft>
        <a:buSzPct val="75000"/>
        <a:buFont typeface="StarSymbol"/>
        <a:buChar char="–"/>
        <a:tabLst/>
        <a:defRPr lang="es-ES" sz="1796" b="0" i="0" u="none" strike="noStrike" kern="1200" cap="none" spc="0" baseline="0">
          <a:ln>
            <a:noFill/>
          </a:ln>
          <a:solidFill>
            <a:schemeClr val="tx1">
              <a:lumMod val="50000"/>
              <a:lumOff val="50000"/>
            </a:schemeClr>
          </a:solidFill>
          <a:highlight>
            <a:scrgbClr r="0" g="0" b="0">
              <a:alpha val="0"/>
            </a:scrgbClr>
          </a:highlight>
          <a:latin typeface="Calibri" pitchFamily="18"/>
          <a:ea typeface="Microsoft YaHei" pitchFamily="2"/>
          <a:cs typeface="Lucida Sans" pitchFamily="2"/>
        </a:defRPr>
      </a:lvl2pPr>
      <a:lvl3pPr marL="857304" marR="0" lvl="2" indent="-171461" algn="l" rtl="0" eaLnBrk="1" hangingPunct="1">
        <a:lnSpc>
          <a:spcPct val="90000"/>
        </a:lnSpc>
        <a:spcBef>
          <a:spcPts val="376"/>
        </a:spcBef>
        <a:spcAft>
          <a:spcPts val="0"/>
        </a:spcAft>
        <a:buSzPct val="45000"/>
        <a:buFont typeface="StarSymbol"/>
        <a:buChar char="●"/>
        <a:tabLst/>
        <a:defRPr lang="es-ES" sz="1506" b="0" i="0" u="none" strike="noStrike" kern="1200" cap="none" spc="0" baseline="0">
          <a:ln>
            <a:noFill/>
          </a:ln>
          <a:solidFill>
            <a:schemeClr val="tx1">
              <a:lumMod val="50000"/>
              <a:lumOff val="50000"/>
            </a:schemeClr>
          </a:solidFill>
          <a:highlight>
            <a:scrgbClr r="0" g="0" b="0">
              <a:alpha val="0"/>
            </a:scrgbClr>
          </a:highlight>
          <a:latin typeface="Calibri" pitchFamily="18"/>
          <a:ea typeface="Microsoft YaHei" pitchFamily="2"/>
          <a:cs typeface="Lucida Sans" pitchFamily="2"/>
        </a:defRPr>
      </a:lvl3pPr>
      <a:lvl4pPr marL="1200226" marR="0" lvl="3" indent="-171461" algn="l" rtl="0" eaLnBrk="1" hangingPunct="1">
        <a:lnSpc>
          <a:spcPct val="90000"/>
        </a:lnSpc>
        <a:spcBef>
          <a:spcPts val="376"/>
        </a:spcBef>
        <a:spcAft>
          <a:spcPts val="0"/>
        </a:spcAft>
        <a:buSzPct val="75000"/>
        <a:buFont typeface="StarSymbol"/>
        <a:buChar char="–"/>
        <a:tabLst/>
        <a:defRPr lang="es-ES" sz="1352" b="0" i="0" u="none" strike="noStrike" kern="1200" cap="none" spc="0" baseline="0">
          <a:ln>
            <a:noFill/>
          </a:ln>
          <a:solidFill>
            <a:schemeClr val="tx1">
              <a:lumMod val="50000"/>
              <a:lumOff val="50000"/>
            </a:schemeClr>
          </a:solidFill>
          <a:highlight>
            <a:scrgbClr r="0" g="0" b="0">
              <a:alpha val="0"/>
            </a:scrgbClr>
          </a:highlight>
          <a:latin typeface="Calibri" pitchFamily="18"/>
          <a:ea typeface="Microsoft YaHei" pitchFamily="2"/>
          <a:cs typeface="Lucida Sans" pitchFamily="2"/>
        </a:defRPr>
      </a:lvl4pPr>
      <a:lvl5pPr marL="1543146" marR="0" lvl="4" indent="-171461" algn="l" rtl="0" eaLnBrk="1" hangingPunct="1">
        <a:lnSpc>
          <a:spcPct val="90000"/>
        </a:lnSpc>
        <a:spcBef>
          <a:spcPts val="376"/>
        </a:spcBef>
        <a:spcAft>
          <a:spcPts val="0"/>
        </a:spcAft>
        <a:buSzPct val="45000"/>
        <a:buFont typeface="StarSymbol"/>
        <a:buChar char="●"/>
        <a:tabLst/>
        <a:defRPr lang="es-ES" sz="1352" b="0" i="0" u="none" strike="noStrike" kern="1200" cap="none" spc="0" baseline="0">
          <a:ln>
            <a:noFill/>
          </a:ln>
          <a:solidFill>
            <a:schemeClr val="tx1">
              <a:lumMod val="50000"/>
              <a:lumOff val="50000"/>
            </a:schemeClr>
          </a:solidFill>
          <a:highlight>
            <a:scrgbClr r="0" g="0" b="0">
              <a:alpha val="0"/>
            </a:scrgbClr>
          </a:highlight>
          <a:latin typeface="Calibri" pitchFamily="18"/>
          <a:ea typeface="Microsoft YaHei" pitchFamily="2"/>
          <a:cs typeface="Lucida Sans" pitchFamily="2"/>
        </a:defRPr>
      </a:lvl5pPr>
      <a:lvl6pPr marL="2281245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6pPr>
      <a:lvl7pPr marL="2696017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7pPr>
      <a:lvl8pPr marL="3110789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8pPr>
      <a:lvl9pPr marL="3525561" indent="-207386" algn="l" defTabSz="829544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1pPr>
      <a:lvl2pPr marL="414772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2pPr>
      <a:lvl3pPr marL="829544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3pPr>
      <a:lvl4pPr marL="1244316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4pPr>
      <a:lvl5pPr marL="1659087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5pPr>
      <a:lvl6pPr marL="2073859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6pPr>
      <a:lvl7pPr marL="2488631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7pPr>
      <a:lvl8pPr marL="2903403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8pPr>
      <a:lvl9pPr marL="3318175" algn="l" defTabSz="829544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dotnet/api/system.array?view=net-9.0" TargetMode="Externa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wrap="square" anchor="b">
            <a:normAutofit/>
          </a:bodyPr>
          <a:lstStyle/>
          <a:p>
            <a:r>
              <a:rPr lang="es-ES" dirty="0"/>
              <a:t>Introducción a c#.net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C79C6F9-BD67-B379-1F32-8BD06C3CEC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642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Declaración de variables I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623491" y="1850371"/>
            <a:ext cx="9623629" cy="566257"/>
          </a:xfrm>
        </p:spPr>
        <p:txBody>
          <a:bodyPr>
            <a:normAutofit/>
          </a:bodyPr>
          <a:lstStyle/>
          <a:p>
            <a:pPr marL="0" indent="0">
              <a:buNone/>
              <a:tabLst>
                <a:tab pos="4667250" algn="l"/>
              </a:tabLst>
            </a:pPr>
            <a:r>
              <a:rPr lang="es-ES" dirty="0"/>
              <a:t>tipo nombre = valor;	</a:t>
            </a:r>
            <a:r>
              <a:rPr lang="es-ES" dirty="0" err="1">
                <a:latin typeface="Consolas" panose="020B0609020204030204" pitchFamily="49" charset="0"/>
              </a:rPr>
              <a:t>string</a:t>
            </a:r>
            <a:r>
              <a:rPr lang="es-ES" dirty="0">
                <a:latin typeface="Consolas" panose="020B0609020204030204" pitchFamily="49" charset="0"/>
              </a:rPr>
              <a:t> apellido = “salinas”;</a:t>
            </a:r>
            <a:endParaRPr lang="es-ES" sz="1900" dirty="0">
              <a:latin typeface="Consolas" panose="020B0609020204030204" pitchFamily="49" charset="0"/>
            </a:endParaRPr>
          </a:p>
        </p:txBody>
      </p:sp>
      <p:sp>
        <p:nvSpPr>
          <p:cNvPr id="5" name="CuadroTexto 4"/>
          <p:cNvSpPr txBox="1"/>
          <p:nvPr/>
        </p:nvSpPr>
        <p:spPr>
          <a:xfrm>
            <a:off x="838200" y="2866027"/>
            <a:ext cx="10515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7F7F7F"/>
                </a:solidFill>
              </a:rPr>
              <a:t>Debe empezar por letra o guion bajo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7F7F7F"/>
                </a:solidFill>
              </a:rPr>
              <a:t>No puede tener espacios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7F7F7F"/>
                </a:solidFill>
              </a:rPr>
              <a:t>No puede estar formada por operadores (+, -, !...)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7F7F7F"/>
                </a:solidFill>
              </a:rPr>
              <a:t>No puede haber dos variables que se llamen igual, aunque sean de diferente tipo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7F7F7F"/>
                </a:solidFill>
              </a:rPr>
              <a:t>Se recomienda escribir el nombre en minúsculas y si tienen más de una palabra separarlas con _ o colocar la primera letra de la segunda palabra en mayúsculas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2000" dirty="0">
              <a:solidFill>
                <a:srgbClr val="7F7F7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7F7F7F"/>
                </a:solidFill>
              </a:rPr>
              <a:t>No es necesario hacer la declaración al principio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000" dirty="0">
                <a:solidFill>
                  <a:srgbClr val="7F7F7F"/>
                </a:solidFill>
              </a:rPr>
              <a:t>Es case sensitive</a:t>
            </a:r>
          </a:p>
        </p:txBody>
      </p:sp>
    </p:spTree>
    <p:extLst>
      <p:ext uri="{BB962C8B-B14F-4D97-AF65-F5344CB8AC3E}">
        <p14:creationId xmlns:p14="http://schemas.microsoft.com/office/powerpoint/2010/main" val="1801694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Declaración de variables II</a:t>
            </a:r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8125037"/>
              </p:ext>
            </p:extLst>
          </p:nvPr>
        </p:nvGraphicFramePr>
        <p:xfrm>
          <a:off x="838200" y="2222862"/>
          <a:ext cx="10515330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6902">
                  <a:extLst>
                    <a:ext uri="{9D8B030D-6E8A-4147-A177-3AD203B41FA5}">
                      <a16:colId xmlns:a16="http://schemas.microsoft.com/office/drawing/2014/main" val="2121153397"/>
                    </a:ext>
                  </a:extLst>
                </a:gridCol>
                <a:gridCol w="5465153">
                  <a:extLst>
                    <a:ext uri="{9D8B030D-6E8A-4147-A177-3AD203B41FA5}">
                      <a16:colId xmlns:a16="http://schemas.microsoft.com/office/drawing/2014/main" val="2052289010"/>
                    </a:ext>
                  </a:extLst>
                </a:gridCol>
                <a:gridCol w="2363275">
                  <a:extLst>
                    <a:ext uri="{9D8B030D-6E8A-4147-A177-3AD203B41FA5}">
                      <a16:colId xmlns:a16="http://schemas.microsoft.com/office/drawing/2014/main" val="2553015673"/>
                    </a:ext>
                  </a:extLst>
                </a:gridCol>
              </a:tblGrid>
              <a:tr h="309999">
                <a:tc>
                  <a:txBody>
                    <a:bodyPr/>
                    <a:lstStyle/>
                    <a:p>
                      <a:r>
                        <a:rPr lang="es-ES" sz="1600" dirty="0"/>
                        <a:t>Tipo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Descripción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Valor por defecto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842713"/>
                  </a:ext>
                </a:extLst>
              </a:tr>
              <a:tr h="309999">
                <a:tc>
                  <a:txBody>
                    <a:bodyPr/>
                    <a:lstStyle/>
                    <a:p>
                      <a:r>
                        <a:rPr lang="es-ES" sz="1600" b="1" u="sng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int</a:t>
                      </a:r>
                      <a:endParaRPr lang="es-ES" sz="1600" b="1" u="sng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Entero de 4 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3285153"/>
                  </a:ext>
                </a:extLst>
              </a:tr>
              <a:tr h="309999">
                <a:tc>
                  <a:txBody>
                    <a:bodyPr/>
                    <a:lstStyle/>
                    <a:p>
                      <a:r>
                        <a:rPr lang="es-ES" sz="1600" dirty="0" err="1"/>
                        <a:t>float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Decimal de 4 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0.0f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9598316"/>
                  </a:ext>
                </a:extLst>
              </a:tr>
              <a:tr h="309999">
                <a:tc>
                  <a:txBody>
                    <a:bodyPr/>
                    <a:lstStyle/>
                    <a:p>
                      <a:r>
                        <a:rPr lang="es-ES" sz="1600" b="1" u="sng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double</a:t>
                      </a:r>
                      <a:endParaRPr lang="es-ES" sz="1600" b="1" u="sng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Decimal de 8 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6197462"/>
                  </a:ext>
                </a:extLst>
              </a:tr>
              <a:tr h="309999">
                <a:tc>
                  <a:txBody>
                    <a:bodyPr/>
                    <a:lstStyle/>
                    <a:p>
                      <a:r>
                        <a:rPr lang="es-ES" sz="1600" dirty="0"/>
                        <a:t>decimal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Decimal de mayor precisión de 16 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0.0m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5155487"/>
                  </a:ext>
                </a:extLst>
              </a:tr>
              <a:tr h="309999">
                <a:tc>
                  <a:txBody>
                    <a:bodyPr/>
                    <a:lstStyle/>
                    <a:p>
                      <a:r>
                        <a:rPr lang="es-ES" sz="1600" dirty="0" err="1"/>
                        <a:t>char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Carácter Unicode de 2 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err="1"/>
                        <a:t>null</a:t>
                      </a:r>
                      <a:endParaRPr lang="es-E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524128"/>
                  </a:ext>
                </a:extLst>
              </a:tr>
              <a:tr h="309999">
                <a:tc>
                  <a:txBody>
                    <a:bodyPr/>
                    <a:lstStyle/>
                    <a:p>
                      <a:r>
                        <a:rPr lang="es-ES" sz="1600" b="1" u="sng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string</a:t>
                      </a:r>
                      <a:endParaRPr lang="es-ES" sz="1600" b="1" u="sng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Cadena de texto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err="1"/>
                        <a:t>null</a:t>
                      </a:r>
                      <a:endParaRPr lang="es-E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2883236"/>
                  </a:ext>
                </a:extLst>
              </a:tr>
              <a:tr h="309999">
                <a:tc>
                  <a:txBody>
                    <a:bodyPr/>
                    <a:lstStyle/>
                    <a:p>
                      <a:r>
                        <a:rPr lang="es-ES" sz="1600" b="1" u="sng" dirty="0" err="1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bool</a:t>
                      </a:r>
                      <a:endParaRPr lang="es-ES" sz="1600" b="1" u="sng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Booleano de 1 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1030277"/>
                  </a:ext>
                </a:extLst>
              </a:tr>
              <a:tr h="309999">
                <a:tc>
                  <a:txBody>
                    <a:bodyPr/>
                    <a:lstStyle/>
                    <a:p>
                      <a:r>
                        <a:rPr lang="es-ES" sz="1600" dirty="0" err="1"/>
                        <a:t>Object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Tipo base de todos los tipos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 err="1"/>
                        <a:t>null</a:t>
                      </a:r>
                      <a:endParaRPr lang="es-E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1336936"/>
                  </a:ext>
                </a:extLst>
              </a:tr>
              <a:tr h="309999">
                <a:tc>
                  <a:txBody>
                    <a:bodyPr/>
                    <a:lstStyle/>
                    <a:p>
                      <a:r>
                        <a:rPr lang="es-ES" sz="1600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Fecha de 8</a:t>
                      </a:r>
                      <a:r>
                        <a:rPr lang="es-ES" sz="1600" baseline="0" dirty="0"/>
                        <a:t> byte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600" baseline="0" dirty="0"/>
                        <a:t>01/01/0001 0:00:00</a:t>
                      </a:r>
                      <a:endParaRPr lang="es-E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3886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9613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Declaración de variables III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Las variables locales dentro de métodos no tienen un valor por defecto, por lo que hay que inicializarlas antes de usarlas.</a:t>
            </a:r>
          </a:p>
          <a:p>
            <a:r>
              <a:rPr lang="es-ES" dirty="0"/>
              <a:t>Pero podemos asignarles valores por defecto explícitamente.</a:t>
            </a:r>
          </a:p>
          <a:p>
            <a:pPr marL="0" indent="0">
              <a:buNone/>
              <a:tabLst>
                <a:tab pos="2155825" algn="l"/>
              </a:tabLst>
            </a:pPr>
            <a:endParaRPr lang="es-ES" dirty="0"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2155825" algn="l"/>
              </a:tabLst>
            </a:pPr>
            <a:endParaRPr lang="es-ES" dirty="0">
              <a:latin typeface="Consolas" panose="020B0609020204030204" pitchFamily="49" charset="0"/>
            </a:endParaRPr>
          </a:p>
          <a:p>
            <a:pPr marL="0" indent="0" algn="ctr">
              <a:buNone/>
              <a:tabLst>
                <a:tab pos="2155825" algn="l"/>
              </a:tabLst>
            </a:pPr>
            <a:r>
              <a:rPr lang="es-ES" dirty="0" err="1">
                <a:latin typeface="Consolas" panose="020B0609020204030204" pitchFamily="49" charset="0"/>
              </a:rPr>
              <a:t>int</a:t>
            </a:r>
            <a:r>
              <a:rPr lang="es-ES" dirty="0">
                <a:latin typeface="Consolas" panose="020B0609020204030204" pitchFamily="49" charset="0"/>
              </a:rPr>
              <a:t> numero = default;</a:t>
            </a:r>
          </a:p>
          <a:p>
            <a:pPr marL="0" indent="0" algn="ctr">
              <a:buNone/>
              <a:tabLst>
                <a:tab pos="2155825" algn="l"/>
              </a:tabLst>
            </a:pPr>
            <a:r>
              <a:rPr lang="es-ES" dirty="0" err="1">
                <a:latin typeface="Consolas" panose="020B0609020204030204" pitchFamily="49" charset="0"/>
              </a:rPr>
              <a:t>bool</a:t>
            </a:r>
            <a:r>
              <a:rPr lang="es-ES" dirty="0">
                <a:latin typeface="Consolas" panose="020B0609020204030204" pitchFamily="49" charset="0"/>
              </a:rPr>
              <a:t> activo = default;</a:t>
            </a:r>
          </a:p>
          <a:p>
            <a:pPr marL="0" indent="0">
              <a:buNone/>
              <a:tabLst>
                <a:tab pos="2155825" algn="l"/>
              </a:tabLst>
            </a:pPr>
            <a:endParaRPr lang="es-E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274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Declaración de constantes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Es una variable que no cambia durante toda la ejecución.</a:t>
            </a:r>
          </a:p>
          <a:p>
            <a:pPr marL="0" indent="0" algn="ctr">
              <a:buNone/>
              <a:tabLst>
                <a:tab pos="2784475" algn="l"/>
              </a:tabLst>
            </a:pPr>
            <a:endParaRPr lang="es-ES" dirty="0"/>
          </a:p>
          <a:p>
            <a:pPr marL="0" indent="0">
              <a:buNone/>
              <a:tabLst>
                <a:tab pos="3590925" algn="l"/>
              </a:tabLst>
            </a:pPr>
            <a:r>
              <a:rPr lang="es-ES" dirty="0"/>
              <a:t>	</a:t>
            </a:r>
            <a:r>
              <a:rPr lang="es-ES" dirty="0" err="1"/>
              <a:t>const</a:t>
            </a:r>
            <a:r>
              <a:rPr lang="es-ES" dirty="0"/>
              <a:t> tipo nombre = valor;</a:t>
            </a:r>
          </a:p>
          <a:p>
            <a:pPr marL="0" indent="0">
              <a:buNone/>
              <a:tabLst>
                <a:tab pos="3590925" algn="l"/>
              </a:tabLst>
            </a:pPr>
            <a:endParaRPr lang="es-ES" dirty="0"/>
          </a:p>
          <a:p>
            <a:pPr marL="0" indent="0">
              <a:buNone/>
              <a:tabLst>
                <a:tab pos="3590925" algn="l"/>
              </a:tabLst>
            </a:pPr>
            <a:r>
              <a:rPr lang="es-ES" dirty="0"/>
              <a:t>	</a:t>
            </a:r>
            <a:r>
              <a:rPr lang="es-ES" dirty="0" err="1">
                <a:latin typeface="Consolas" panose="020B0609020204030204" pitchFamily="49" charset="0"/>
              </a:rPr>
              <a:t>const</a:t>
            </a:r>
            <a:r>
              <a:rPr lang="es-ES" dirty="0">
                <a:latin typeface="Consolas" panose="020B0609020204030204" pitchFamily="49" charset="0"/>
              </a:rPr>
              <a:t> </a:t>
            </a:r>
            <a:r>
              <a:rPr lang="es-ES" dirty="0" err="1">
                <a:latin typeface="Consolas" panose="020B0609020204030204" pitchFamily="49" charset="0"/>
              </a:rPr>
              <a:t>double</a:t>
            </a:r>
            <a:r>
              <a:rPr lang="es-ES" dirty="0">
                <a:latin typeface="Consolas" panose="020B0609020204030204" pitchFamily="49" charset="0"/>
              </a:rPr>
              <a:t> IVA = 0.21;</a:t>
            </a:r>
          </a:p>
          <a:p>
            <a:pPr marL="0" indent="0">
              <a:buNone/>
            </a:pPr>
            <a:endParaRPr lang="es-ES" dirty="0"/>
          </a:p>
          <a:p>
            <a:r>
              <a:rPr lang="es-ES" dirty="0"/>
              <a:t>Siguen las mismas reglas que las variables, pero se recomienda escribir el nombre en mayúsculas.</a:t>
            </a:r>
          </a:p>
        </p:txBody>
      </p:sp>
    </p:spTree>
    <p:extLst>
      <p:ext uri="{BB962C8B-B14F-4D97-AF65-F5344CB8AC3E}">
        <p14:creationId xmlns:p14="http://schemas.microsoft.com/office/powerpoint/2010/main" val="3140710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Asignación de valores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Se puede asignar un valor al declarar la variable</a:t>
            </a:r>
          </a:p>
          <a:p>
            <a:pPr marL="0" indent="0" algn="ctr">
              <a:buNone/>
            </a:pPr>
            <a:r>
              <a:rPr lang="es-ES" dirty="0" err="1">
                <a:latin typeface="Consolas" panose="020B0609020204030204" pitchFamily="49" charset="0"/>
              </a:rPr>
              <a:t>string</a:t>
            </a:r>
            <a:r>
              <a:rPr lang="es-ES" dirty="0">
                <a:latin typeface="Consolas" panose="020B0609020204030204" pitchFamily="49" charset="0"/>
              </a:rPr>
              <a:t> nombre = “maider”;</a:t>
            </a:r>
          </a:p>
          <a:p>
            <a:pPr marL="0" indent="0" algn="ctr">
              <a:buNone/>
            </a:pPr>
            <a:endParaRPr lang="es-ES" dirty="0">
              <a:latin typeface="Consolas" panose="020B0609020204030204" pitchFamily="49" charset="0"/>
            </a:endParaRPr>
          </a:p>
          <a:p>
            <a:r>
              <a:rPr lang="es-ES" dirty="0"/>
              <a:t>O durante la ejecución del programa</a:t>
            </a:r>
          </a:p>
          <a:p>
            <a:pPr marL="0" indent="0" algn="ctr">
              <a:buNone/>
            </a:pPr>
            <a:r>
              <a:rPr lang="es-ES" dirty="0">
                <a:latin typeface="Consolas" panose="020B0609020204030204" pitchFamily="49" charset="0"/>
              </a:rPr>
              <a:t>nombre = “maider”;</a:t>
            </a:r>
          </a:p>
          <a:p>
            <a:pPr marL="0" indent="0" algn="ctr">
              <a:buNone/>
            </a:pPr>
            <a:endParaRPr lang="es-ES" dirty="0"/>
          </a:p>
          <a:p>
            <a:r>
              <a:rPr lang="es-ES" dirty="0"/>
              <a:t>Para asignar un valor leído por pantalla a una variable, debemos usar el método </a:t>
            </a:r>
            <a:r>
              <a:rPr lang="es-ES" dirty="0" err="1"/>
              <a:t>Console.ReadLine</a:t>
            </a:r>
            <a:r>
              <a:rPr lang="es-ES" dirty="0"/>
              <a:t> :</a:t>
            </a:r>
          </a:p>
          <a:p>
            <a:pPr marL="0" indent="0" algn="ctr">
              <a:buNone/>
            </a:pPr>
            <a:r>
              <a:rPr lang="es-ES" dirty="0">
                <a:latin typeface="Consolas" panose="020B0609020204030204" pitchFamily="49" charset="0"/>
              </a:rPr>
              <a:t>nombre = </a:t>
            </a:r>
            <a:r>
              <a:rPr lang="es-ES" dirty="0" err="1">
                <a:latin typeface="Consolas" panose="020B0609020204030204" pitchFamily="49" charset="0"/>
              </a:rPr>
              <a:t>Console.ReadLine</a:t>
            </a:r>
            <a:r>
              <a:rPr lang="es-ES" dirty="0">
                <a:latin typeface="Consolas" panose="020B0609020204030204" pitchFamily="49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288348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Mostrar datos por pantalla I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Se usa el método </a:t>
            </a:r>
            <a:r>
              <a:rPr lang="es-ES" dirty="0" err="1"/>
              <a:t>Console.WriteLine</a:t>
            </a:r>
            <a:r>
              <a:rPr lang="es-ES" dirty="0"/>
              <a:t>. Se puede usar de varias maneras:</a:t>
            </a:r>
          </a:p>
          <a:p>
            <a:endParaRPr lang="es-ES" dirty="0"/>
          </a:p>
          <a:p>
            <a:pPr lvl="1"/>
            <a:r>
              <a:rPr lang="es-ES" sz="1900" dirty="0"/>
              <a:t>Concatenando texto entre comillas y variables con el </a:t>
            </a:r>
            <a:r>
              <a:rPr lang="es-ES" sz="1900" dirty="0">
                <a:latin typeface="Consolas" panose="020B0609020204030204" pitchFamily="49" charset="0"/>
              </a:rPr>
              <a:t> +</a:t>
            </a:r>
          </a:p>
          <a:p>
            <a:pPr lvl="1"/>
            <a:endParaRPr lang="es-ES" sz="1900" dirty="0"/>
          </a:p>
          <a:p>
            <a:pPr marL="0" indent="0">
              <a:buNone/>
              <a:tabLst>
                <a:tab pos="1433513" algn="l"/>
              </a:tabLst>
            </a:pPr>
            <a:r>
              <a:rPr lang="es-ES" dirty="0"/>
              <a:t>	</a:t>
            </a:r>
            <a:r>
              <a:rPr lang="es-ES" dirty="0" err="1">
                <a:latin typeface="Consolas" panose="020B0609020204030204" pitchFamily="49" charset="0"/>
              </a:rPr>
              <a:t>Console.WriteLine</a:t>
            </a:r>
            <a:r>
              <a:rPr lang="es-ES" dirty="0">
                <a:latin typeface="Consolas" panose="020B0609020204030204" pitchFamily="49" charset="0"/>
              </a:rPr>
              <a:t>(“El valor es igual a “ + a);</a:t>
            </a:r>
          </a:p>
          <a:p>
            <a:pPr marL="0" indent="0">
              <a:buNone/>
              <a:tabLst>
                <a:tab pos="1433513" algn="l"/>
              </a:tabLst>
            </a:pPr>
            <a:endParaRPr lang="es-ES" dirty="0">
              <a:latin typeface="Consolas" panose="020B0609020204030204" pitchFamily="49" charset="0"/>
            </a:endParaRPr>
          </a:p>
          <a:p>
            <a:pPr lvl="1">
              <a:tabLst>
                <a:tab pos="1433513" algn="l"/>
              </a:tabLst>
            </a:pPr>
            <a:r>
              <a:rPr lang="es-ES" sz="1900" dirty="0">
                <a:latin typeface="+mn-lt"/>
              </a:rPr>
              <a:t>Poniendo el texto entre comillas, y allí donde vaya una variable ponerla entre llaves. Delante de las comillas poner el símbolo de dólar.</a:t>
            </a:r>
          </a:p>
          <a:p>
            <a:pPr marL="342921" lvl="1" indent="0">
              <a:buNone/>
              <a:tabLst>
                <a:tab pos="1433513" algn="l"/>
              </a:tabLst>
            </a:pPr>
            <a:endParaRPr lang="es-ES" sz="1900" dirty="0">
              <a:latin typeface="+mn-lt"/>
            </a:endParaRPr>
          </a:p>
          <a:p>
            <a:pPr marL="0" indent="0">
              <a:buNone/>
              <a:tabLst>
                <a:tab pos="1433513" algn="l"/>
              </a:tabLst>
            </a:pPr>
            <a:r>
              <a:rPr lang="es-ES" dirty="0">
                <a:latin typeface="Consolas" panose="020B0609020204030204" pitchFamily="49" charset="0"/>
              </a:rPr>
              <a:t>	</a:t>
            </a:r>
            <a:r>
              <a:rPr lang="es-ES" dirty="0" err="1">
                <a:latin typeface="Consolas" panose="020B0609020204030204" pitchFamily="49" charset="0"/>
              </a:rPr>
              <a:t>Console.WriteLine</a:t>
            </a:r>
            <a:r>
              <a:rPr lang="es-ES" dirty="0">
                <a:latin typeface="Consolas" panose="020B0609020204030204" pitchFamily="49" charset="0"/>
              </a:rPr>
              <a:t>($“Mi nombre es {nombre} {apellido}”);</a:t>
            </a:r>
          </a:p>
        </p:txBody>
      </p:sp>
    </p:spTree>
    <p:extLst>
      <p:ext uri="{BB962C8B-B14F-4D97-AF65-F5344CB8AC3E}">
        <p14:creationId xmlns:p14="http://schemas.microsoft.com/office/powerpoint/2010/main" val="1472798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Conversión de tipos I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En ocasiones, tenemos que convertir variables para evitar errores.</a:t>
            </a:r>
          </a:p>
          <a:p>
            <a:r>
              <a:rPr lang="es-ES" dirty="0"/>
              <a:t>Podemos usar los métodos de la clase </a:t>
            </a:r>
            <a:r>
              <a:rPr lang="es-ES" dirty="0" err="1"/>
              <a:t>Convert</a:t>
            </a:r>
            <a:r>
              <a:rPr lang="es-ES" dirty="0"/>
              <a:t>: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  <a:tabLst>
                <a:tab pos="3227388" algn="l"/>
              </a:tabLst>
            </a:pPr>
            <a:r>
              <a:rPr lang="es-ES" dirty="0"/>
              <a:t>	</a:t>
            </a:r>
            <a:r>
              <a:rPr lang="es-ES" dirty="0" err="1">
                <a:latin typeface="Consolas" panose="020B0609020204030204" pitchFamily="49" charset="0"/>
              </a:rPr>
              <a:t>double</a:t>
            </a:r>
            <a:r>
              <a:rPr lang="es-ES" dirty="0">
                <a:latin typeface="Consolas" panose="020B0609020204030204" pitchFamily="49" charset="0"/>
              </a:rPr>
              <a:t> x = 123.5;</a:t>
            </a:r>
          </a:p>
          <a:p>
            <a:pPr marL="0" indent="0">
              <a:buNone/>
              <a:tabLst>
                <a:tab pos="3227388" algn="l"/>
              </a:tabLst>
            </a:pPr>
            <a:r>
              <a:rPr lang="es-ES" dirty="0">
                <a:latin typeface="Consolas" panose="020B0609020204030204" pitchFamily="49" charset="0"/>
              </a:rPr>
              <a:t>	</a:t>
            </a:r>
            <a:r>
              <a:rPr lang="es-ES" dirty="0" err="1">
                <a:latin typeface="Consolas" panose="020B0609020204030204" pitchFamily="49" charset="0"/>
              </a:rPr>
              <a:t>int</a:t>
            </a:r>
            <a:r>
              <a:rPr lang="es-ES" dirty="0">
                <a:latin typeface="Consolas" panose="020B0609020204030204" pitchFamily="49" charset="0"/>
              </a:rPr>
              <a:t> y = default;</a:t>
            </a:r>
          </a:p>
          <a:p>
            <a:pPr marL="0" indent="0">
              <a:buNone/>
              <a:tabLst>
                <a:tab pos="3227388" algn="l"/>
              </a:tabLst>
            </a:pPr>
            <a:r>
              <a:rPr lang="es-ES" dirty="0">
                <a:latin typeface="Consolas" panose="020B0609020204030204" pitchFamily="49" charset="0"/>
              </a:rPr>
              <a:t>	y=Convert.ToInt32(x);  //124</a:t>
            </a:r>
          </a:p>
          <a:p>
            <a:pPr marL="0" indent="0">
              <a:buNone/>
              <a:tabLst>
                <a:tab pos="3862388" algn="l"/>
              </a:tabLst>
            </a:pPr>
            <a:endParaRPr lang="es-ES" dirty="0"/>
          </a:p>
          <a:p>
            <a:r>
              <a:rPr lang="es-ES" dirty="0"/>
              <a:t>Pero se recomienda usar el método </a:t>
            </a:r>
            <a:r>
              <a:rPr lang="es-ES" dirty="0" err="1"/>
              <a:t>Parse</a:t>
            </a:r>
            <a:r>
              <a:rPr lang="es-ES" dirty="0"/>
              <a:t>. Todas las clases que representan los tipos de datos disponen de ella:</a:t>
            </a:r>
          </a:p>
          <a:p>
            <a:pPr marL="0" indent="0" algn="ctr">
              <a:buNone/>
            </a:pPr>
            <a:r>
              <a:rPr lang="es-ES" dirty="0">
                <a:latin typeface="Consolas" panose="020B0609020204030204" pitchFamily="49" charset="0"/>
              </a:rPr>
              <a:t>y = </a:t>
            </a:r>
            <a:r>
              <a:rPr lang="es-ES" dirty="0" err="1">
                <a:latin typeface="Consolas" panose="020B0609020204030204" pitchFamily="49" charset="0"/>
              </a:rPr>
              <a:t>int.Parse</a:t>
            </a:r>
            <a:r>
              <a:rPr lang="es-ES" dirty="0">
                <a:latin typeface="Consolas" panose="020B0609020204030204" pitchFamily="49" charset="0"/>
              </a:rPr>
              <a:t>(x);</a:t>
            </a:r>
          </a:p>
        </p:txBody>
      </p:sp>
    </p:spTree>
    <p:extLst>
      <p:ext uri="{BB962C8B-B14F-4D97-AF65-F5344CB8AC3E}">
        <p14:creationId xmlns:p14="http://schemas.microsoft.com/office/powerpoint/2010/main" val="1389536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Conversión de tipos II : </a:t>
            </a:r>
            <a:r>
              <a:rPr lang="es-ES" dirty="0" err="1"/>
              <a:t>TryParse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3" y="2160589"/>
            <a:ext cx="10515383" cy="1320801"/>
          </a:xfrm>
        </p:spPr>
        <p:txBody>
          <a:bodyPr>
            <a:normAutofit lnSpcReduction="10000"/>
          </a:bodyPr>
          <a:lstStyle/>
          <a:p>
            <a:r>
              <a:rPr lang="es-ES" dirty="0"/>
              <a:t>Además del método </a:t>
            </a:r>
            <a:r>
              <a:rPr lang="es-ES" dirty="0" err="1"/>
              <a:t>Parse</a:t>
            </a:r>
            <a:r>
              <a:rPr lang="es-ES" dirty="0"/>
              <a:t>, existe el método </a:t>
            </a:r>
            <a:r>
              <a:rPr lang="es-ES" dirty="0" err="1"/>
              <a:t>TryParse</a:t>
            </a:r>
            <a:r>
              <a:rPr lang="es-ES" dirty="0"/>
              <a:t>, que nos ayudara a controlar las excepciones que se crean al convertir datos de un tipo a otro.</a:t>
            </a:r>
          </a:p>
          <a:p>
            <a:r>
              <a:rPr lang="es-ES" dirty="0"/>
              <a:t> Este método devuelve un true si la conversión ha sido posible, en caso contrario, devuelve un false.</a:t>
            </a:r>
          </a:p>
          <a:p>
            <a:endParaRPr lang="es-ES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432A30AC-E46B-295B-B136-A565B77677EE}"/>
              </a:ext>
            </a:extLst>
          </p:cNvPr>
          <p:cNvSpPr txBox="1">
            <a:spLocks/>
          </p:cNvSpPr>
          <p:nvPr/>
        </p:nvSpPr>
        <p:spPr>
          <a:xfrm>
            <a:off x="677334" y="3711579"/>
            <a:ext cx="8596668" cy="1320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ES" dirty="0"/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1E616E01-C295-0F4F-D53F-EBC6EA7056A8}"/>
              </a:ext>
            </a:extLst>
          </p:cNvPr>
          <p:cNvSpPr txBox="1">
            <a:spLocks/>
          </p:cNvSpPr>
          <p:nvPr/>
        </p:nvSpPr>
        <p:spPr>
          <a:xfrm>
            <a:off x="967266" y="3711579"/>
            <a:ext cx="8596668" cy="262390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num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= -1;</a:t>
            </a:r>
          </a:p>
          <a:p>
            <a:pPr marL="0" indent="0">
              <a:buNone/>
            </a:pPr>
            <a:endParaRPr lang="es-ES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Console.WriteLine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(“Inserte un número positivo”);</a:t>
            </a:r>
          </a:p>
          <a:p>
            <a:pPr marL="0" indent="0">
              <a:buNone/>
            </a:pPr>
            <a:r>
              <a:rPr lang="es-E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if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(!</a:t>
            </a:r>
            <a:r>
              <a:rPr lang="es-E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int.TryParse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(</a:t>
            </a:r>
            <a:r>
              <a:rPr lang="es-E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Console.ReadLine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(), </a:t>
            </a:r>
            <a:r>
              <a:rPr lang="es-E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out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num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))</a:t>
            </a:r>
          </a:p>
          <a:p>
            <a:pPr marL="0" indent="0">
              <a:buNone/>
            </a:pP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s-E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Console.WriteLine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(“No has insertado un número”);</a:t>
            </a:r>
          </a:p>
          <a:p>
            <a:pPr marL="0" indent="0">
              <a:buNone/>
            </a:pP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07181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Comentarios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2600" dirty="0"/>
              <a:t>Podemos usa /* */ para comentarios de más de una línea y // para comentarios de una línea.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  <a:tabLst>
                <a:tab pos="2511425" algn="l"/>
              </a:tabLst>
            </a:pPr>
            <a:r>
              <a:rPr lang="es-ES" dirty="0"/>
              <a:t>	/*E</a:t>
            </a:r>
            <a:r>
              <a:rPr lang="es-ES" dirty="0">
                <a:latin typeface="Consolas" panose="020B0609020204030204" pitchFamily="49" charset="0"/>
              </a:rPr>
              <a:t>sto es un comentario</a:t>
            </a:r>
          </a:p>
          <a:p>
            <a:pPr marL="0" indent="0">
              <a:buNone/>
              <a:tabLst>
                <a:tab pos="2511425" algn="l"/>
              </a:tabLst>
            </a:pPr>
            <a:r>
              <a:rPr lang="es-ES" dirty="0">
                <a:latin typeface="Consolas" panose="020B0609020204030204" pitchFamily="49" charset="0"/>
              </a:rPr>
              <a:t>	que ocupa más de una línea*/</a:t>
            </a:r>
          </a:p>
          <a:p>
            <a:pPr marL="0" indent="0">
              <a:buNone/>
              <a:tabLst>
                <a:tab pos="2511425" algn="l"/>
              </a:tabLst>
            </a:pPr>
            <a:r>
              <a:rPr lang="es-ES" dirty="0">
                <a:latin typeface="Consolas" panose="020B0609020204030204" pitchFamily="49" charset="0"/>
              </a:rPr>
              <a:t>	//esto es un comentario de una </a:t>
            </a:r>
            <a:r>
              <a:rPr lang="es-ES" dirty="0" err="1">
                <a:latin typeface="Consolas" panose="020B0609020204030204" pitchFamily="49" charset="0"/>
              </a:rPr>
              <a:t>linea</a:t>
            </a:r>
            <a:endParaRPr lang="es-ES" dirty="0"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2511425" algn="l"/>
              </a:tabLst>
            </a:pPr>
            <a:r>
              <a:rPr lang="es-ES" dirty="0">
                <a:latin typeface="Consolas" panose="020B0609020204030204" pitchFamily="49" charset="0"/>
              </a:rPr>
              <a:t>	x=20 //esto es un comentario de una </a:t>
            </a:r>
            <a:r>
              <a:rPr lang="es-ES" dirty="0" err="1">
                <a:latin typeface="Consolas" panose="020B0609020204030204" pitchFamily="49" charset="0"/>
              </a:rPr>
              <a:t>linea</a:t>
            </a:r>
            <a:endParaRPr lang="es-ES" dirty="0"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2511425" algn="l"/>
              </a:tabLst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837364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Operadores aritméticos</a:t>
            </a:r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5417402"/>
              </p:ext>
            </p:extLst>
          </p:nvPr>
        </p:nvGraphicFramePr>
        <p:xfrm>
          <a:off x="838200" y="1825625"/>
          <a:ext cx="10515388" cy="1854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93011">
                  <a:extLst>
                    <a:ext uri="{9D8B030D-6E8A-4147-A177-3AD203B41FA5}">
                      <a16:colId xmlns:a16="http://schemas.microsoft.com/office/drawing/2014/main" val="2920152502"/>
                    </a:ext>
                  </a:extLst>
                </a:gridCol>
                <a:gridCol w="9622377">
                  <a:extLst>
                    <a:ext uri="{9D8B030D-6E8A-4147-A177-3AD203B41FA5}">
                      <a16:colId xmlns:a16="http://schemas.microsoft.com/office/drawing/2014/main" val="14191976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sz="1600" dirty="0"/>
                        <a:t>+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Suma. Operandos enteros o reales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58361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/>
                        <a:t>-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Resta. </a:t>
                      </a:r>
                      <a:r>
                        <a:rPr lang="es-ES" sz="1600" dirty="0" err="1"/>
                        <a:t>Operandos</a:t>
                      </a:r>
                      <a:r>
                        <a:rPr lang="es-ES" sz="1600" dirty="0"/>
                        <a:t> enteros o reales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938713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/>
                        <a:t>*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Multiplicación. </a:t>
                      </a:r>
                      <a:r>
                        <a:rPr lang="es-ES" sz="1600" dirty="0" err="1"/>
                        <a:t>Operandos</a:t>
                      </a:r>
                      <a:r>
                        <a:rPr lang="es-ES" sz="1600" dirty="0"/>
                        <a:t> enteros o reales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9777782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/>
                        <a:t>/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División. </a:t>
                      </a:r>
                      <a:r>
                        <a:rPr lang="es-ES" sz="1600" dirty="0" err="1"/>
                        <a:t>Operandos</a:t>
                      </a:r>
                      <a:r>
                        <a:rPr lang="es-ES" sz="1600" dirty="0"/>
                        <a:t> enteros o reales. Resultado siempre </a:t>
                      </a:r>
                      <a:r>
                        <a:rPr lang="es-ES" sz="1600" dirty="0" err="1"/>
                        <a:t>Double</a:t>
                      </a:r>
                      <a:endParaRPr lang="es-ES" sz="16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33465939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sz="1600" dirty="0"/>
                        <a:t>%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s-ES" sz="1600" dirty="0"/>
                        <a:t>Resto de una división.</a:t>
                      </a:r>
                      <a:r>
                        <a:rPr lang="es-ES" sz="1600" baseline="0" dirty="0"/>
                        <a:t> </a:t>
                      </a:r>
                      <a:r>
                        <a:rPr lang="es-ES" sz="1600" baseline="0" dirty="0" err="1"/>
                        <a:t>Operandos</a:t>
                      </a:r>
                      <a:r>
                        <a:rPr lang="es-ES" sz="1600" baseline="0" dirty="0"/>
                        <a:t> enteros o reales. Si ambos </a:t>
                      </a:r>
                      <a:r>
                        <a:rPr lang="es-ES" sz="1600" baseline="0" dirty="0" err="1"/>
                        <a:t>operandos</a:t>
                      </a:r>
                      <a:r>
                        <a:rPr lang="es-ES" sz="1600" baseline="0" dirty="0"/>
                        <a:t> son enteros el resto será entero, si no real.</a:t>
                      </a:r>
                      <a:endParaRPr lang="es-ES" sz="1600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3980891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1390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Operadores condicionales y lógicos</a:t>
            </a:r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8246419"/>
              </p:ext>
            </p:extLst>
          </p:nvPr>
        </p:nvGraphicFramePr>
        <p:xfrm>
          <a:off x="838200" y="1825625"/>
          <a:ext cx="10515600" cy="22250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35758">
                  <a:extLst>
                    <a:ext uri="{9D8B030D-6E8A-4147-A177-3AD203B41FA5}">
                      <a16:colId xmlns:a16="http://schemas.microsoft.com/office/drawing/2014/main" val="4104541879"/>
                    </a:ext>
                  </a:extLst>
                </a:gridCol>
                <a:gridCol w="9879842">
                  <a:extLst>
                    <a:ext uri="{9D8B030D-6E8A-4147-A177-3AD203B41FA5}">
                      <a16:colId xmlns:a16="http://schemas.microsoft.com/office/drawing/2014/main" val="4398191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&lt;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Menor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3180532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&gt;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Mayor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37574253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&lt;=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Menor o igual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22601214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&gt;=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Mayor o igual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927825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!=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Diferente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452267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==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Igual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292490464"/>
                  </a:ext>
                </a:extLst>
              </a:tr>
            </a:tbl>
          </a:graphicData>
        </a:graphic>
      </p:graphicFrame>
      <p:graphicFrame>
        <p:nvGraphicFramePr>
          <p:cNvPr id="3" name="Marcador de contenido 3">
            <a:extLst>
              <a:ext uri="{FF2B5EF4-FFF2-40B4-BE49-F238E27FC236}">
                <a16:creationId xmlns:a16="http://schemas.microsoft.com/office/drawing/2014/main" id="{6BE3A788-3339-06D0-DC9B-083AA99503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1036210"/>
              </p:ext>
            </p:extLst>
          </p:nvPr>
        </p:nvGraphicFramePr>
        <p:xfrm>
          <a:off x="837929" y="4438196"/>
          <a:ext cx="10515601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72323">
                  <a:extLst>
                    <a:ext uri="{9D8B030D-6E8A-4147-A177-3AD203B41FA5}">
                      <a16:colId xmlns:a16="http://schemas.microsoft.com/office/drawing/2014/main" val="1383629865"/>
                    </a:ext>
                  </a:extLst>
                </a:gridCol>
                <a:gridCol w="9243278">
                  <a:extLst>
                    <a:ext uri="{9D8B030D-6E8A-4147-A177-3AD203B41FA5}">
                      <a16:colId xmlns:a16="http://schemas.microsoft.com/office/drawing/2014/main" val="41278268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&amp;&amp;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Da true si ambos son true, si no false</a:t>
                      </a:r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1282805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||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Da</a:t>
                      </a:r>
                      <a:r>
                        <a:rPr lang="es-ES" baseline="0" dirty="0"/>
                        <a:t> false si ambos son false, si no true</a:t>
                      </a:r>
                      <a:endParaRPr lang="es-ES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37299128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!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Da</a:t>
                      </a:r>
                      <a:r>
                        <a:rPr lang="es-ES" baseline="0" dirty="0"/>
                        <a:t> false si es true, y true si es false</a:t>
                      </a:r>
                      <a:endParaRPr lang="es-ES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3878289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^</a:t>
                      </a:r>
                    </a:p>
                  </a:txBody>
                  <a:tcPr marL="91441" marR="91441"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Da true cuando una condición es false</a:t>
                      </a:r>
                      <a:r>
                        <a:rPr lang="es-ES" baseline="0" dirty="0"/>
                        <a:t> y la otra true</a:t>
                      </a:r>
                      <a:endParaRPr lang="es-ES" dirty="0"/>
                    </a:p>
                  </a:txBody>
                  <a:tcPr marL="91441" marR="91441"/>
                </a:tc>
                <a:extLst>
                  <a:ext uri="{0D108BD9-81ED-4DB2-BD59-A6C34878D82A}">
                    <a16:rowId xmlns:a16="http://schemas.microsoft.com/office/drawing/2014/main" val="3805263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9386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Expresiones condicionales I: </a:t>
            </a:r>
            <a:r>
              <a:rPr lang="es-ES" dirty="0" err="1"/>
              <a:t>If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725548" y="1922432"/>
            <a:ext cx="8981673" cy="424956"/>
          </a:xfrm>
          <a:ln>
            <a:solidFill>
              <a:schemeClr val="accent1"/>
            </a:solidFill>
          </a:ln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s-ES" dirty="0" err="1"/>
              <a:t>if</a:t>
            </a:r>
            <a:r>
              <a:rPr lang="es-ES" dirty="0"/>
              <a:t> (condición) instrucción;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F5377DA0-7A63-43B4-2790-7614B160DE25}"/>
              </a:ext>
            </a:extLst>
          </p:cNvPr>
          <p:cNvSpPr txBox="1">
            <a:spLocks/>
          </p:cNvSpPr>
          <p:nvPr/>
        </p:nvSpPr>
        <p:spPr>
          <a:xfrm>
            <a:off x="677334" y="2615324"/>
            <a:ext cx="2196496" cy="3776164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es-E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if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(condición)</a:t>
            </a:r>
          </a:p>
          <a:p>
            <a:pPr marL="0" indent="0">
              <a:buFont typeface="Wingdings 3" charset="2"/>
              <a:buNone/>
            </a:pP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{</a:t>
            </a:r>
          </a:p>
          <a:p>
            <a:pPr marL="0" indent="0">
              <a:buFont typeface="Wingdings 3" charset="2"/>
              <a:buNone/>
            </a:pP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instrucción1;</a:t>
            </a:r>
          </a:p>
          <a:p>
            <a:pPr marL="0" indent="0">
              <a:buFont typeface="Wingdings 3" charset="2"/>
              <a:buNone/>
            </a:pP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instrucción2;</a:t>
            </a:r>
          </a:p>
          <a:p>
            <a:pPr marL="0" indent="0">
              <a:buFont typeface="Wingdings 3" charset="2"/>
              <a:buNone/>
            </a:pP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} [</a:t>
            </a:r>
            <a:r>
              <a:rPr lang="es-E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else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pPr marL="0" indent="0">
              <a:buFont typeface="Wingdings 3" charset="2"/>
              <a:buNone/>
            </a:pP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{</a:t>
            </a:r>
          </a:p>
          <a:p>
            <a:pPr marL="0" indent="0">
              <a:buFont typeface="Wingdings 3" charset="2"/>
              <a:buNone/>
            </a:pP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instrucción1;</a:t>
            </a:r>
          </a:p>
          <a:p>
            <a:pPr marL="0" indent="0">
              <a:buFont typeface="Wingdings 3" charset="2"/>
              <a:buNone/>
            </a:pP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instrucción2;]</a:t>
            </a:r>
          </a:p>
          <a:p>
            <a:pPr marL="0" indent="0">
              <a:buFont typeface="Wingdings 3" charset="2"/>
              <a:buNone/>
            </a:pP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}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1D964C7E-C57B-ACF9-BAEC-9F9E3FCE5B5A}"/>
              </a:ext>
            </a:extLst>
          </p:cNvPr>
          <p:cNvSpPr txBox="1">
            <a:spLocks/>
          </p:cNvSpPr>
          <p:nvPr/>
        </p:nvSpPr>
        <p:spPr>
          <a:xfrm>
            <a:off x="3128593" y="2615324"/>
            <a:ext cx="2606001" cy="3776165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  <a:tabLst>
                <a:tab pos="3233738" algn="l"/>
              </a:tabLst>
            </a:pPr>
            <a:r>
              <a:rPr lang="es-E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if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(condición) </a:t>
            </a:r>
          </a:p>
          <a:p>
            <a:pPr marL="0" indent="0">
              <a:buFont typeface="Wingdings 3" charset="2"/>
              <a:buNone/>
              <a:tabLst>
                <a:tab pos="3233738" algn="l"/>
              </a:tabLst>
            </a:pP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{</a:t>
            </a:r>
          </a:p>
          <a:p>
            <a:pPr marL="0" indent="0">
              <a:buFont typeface="Wingdings 3" charset="2"/>
              <a:buNone/>
              <a:tabLst>
                <a:tab pos="3233738" algn="l"/>
              </a:tabLst>
            </a:pP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instrucciones;</a:t>
            </a:r>
          </a:p>
          <a:p>
            <a:pPr marL="0" indent="0">
              <a:buFont typeface="Wingdings 3" charset="2"/>
              <a:buNone/>
              <a:tabLst>
                <a:tab pos="3233738" algn="l"/>
              </a:tabLst>
            </a:pP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}</a:t>
            </a:r>
            <a:r>
              <a:rPr lang="es-E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else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s-E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if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(condición) </a:t>
            </a:r>
          </a:p>
          <a:p>
            <a:pPr marL="0" indent="0">
              <a:buFont typeface="Wingdings 3" charset="2"/>
              <a:buNone/>
              <a:tabLst>
                <a:tab pos="3233738" algn="l"/>
              </a:tabLst>
            </a:pP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{ </a:t>
            </a:r>
          </a:p>
          <a:p>
            <a:pPr marL="0" indent="0">
              <a:buFont typeface="Wingdings 3" charset="2"/>
              <a:buNone/>
              <a:tabLst>
                <a:tab pos="3233738" algn="l"/>
              </a:tabLst>
            </a:pP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instrucciones;</a:t>
            </a:r>
          </a:p>
          <a:p>
            <a:pPr marL="0" indent="0">
              <a:buFont typeface="Wingdings 3" charset="2"/>
              <a:buNone/>
              <a:tabLst>
                <a:tab pos="3233738" algn="l"/>
              </a:tabLst>
            </a:pP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}</a:t>
            </a:r>
            <a:r>
              <a:rPr lang="es-E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else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</a:p>
          <a:p>
            <a:pPr marL="0" indent="0">
              <a:buFont typeface="Wingdings 3" charset="2"/>
              <a:buNone/>
              <a:tabLst>
                <a:tab pos="3233738" algn="l"/>
              </a:tabLst>
            </a:pP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{</a:t>
            </a:r>
          </a:p>
          <a:p>
            <a:pPr marL="0" indent="0">
              <a:buFont typeface="Wingdings 3" charset="2"/>
              <a:buNone/>
              <a:tabLst>
                <a:tab pos="3233738" algn="l"/>
              </a:tabLst>
            </a:pP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   instrucciones;</a:t>
            </a:r>
          </a:p>
          <a:p>
            <a:pPr marL="0" indent="0">
              <a:buFont typeface="Wingdings 3" charset="2"/>
              <a:buNone/>
              <a:tabLst>
                <a:tab pos="3233738" algn="l"/>
              </a:tabLst>
            </a:pP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}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881E641F-E6A6-FD3B-3167-803CE6A35FA1}"/>
              </a:ext>
            </a:extLst>
          </p:cNvPr>
          <p:cNvSpPr txBox="1">
            <a:spLocks/>
          </p:cNvSpPr>
          <p:nvPr/>
        </p:nvSpPr>
        <p:spPr>
          <a:xfrm>
            <a:off x="5989357" y="3306406"/>
            <a:ext cx="5923969" cy="2394000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  <a:tabLst>
                <a:tab pos="3233738" algn="l"/>
              </a:tabLst>
            </a:pPr>
            <a:r>
              <a:rPr lang="es-E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if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(</a:t>
            </a:r>
            <a:r>
              <a:rPr lang="es-E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num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% 2 == 0) </a:t>
            </a:r>
          </a:p>
          <a:p>
            <a:pPr marL="0" indent="0">
              <a:buFont typeface="Wingdings 3" charset="2"/>
              <a:buNone/>
              <a:tabLst>
                <a:tab pos="3233738" algn="l"/>
              </a:tabLst>
            </a:pP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Font typeface="Wingdings 3" charset="2"/>
              <a:buNone/>
              <a:tabLst>
                <a:tab pos="3233738" algn="l"/>
              </a:tabLst>
            </a:pP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s-E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Console.WriteLine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(“el número {0} es par”, </a:t>
            </a:r>
            <a:r>
              <a:rPr lang="es-E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num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Font typeface="Wingdings 3" charset="2"/>
              <a:buNone/>
              <a:tabLst>
                <a:tab pos="3233738" algn="l"/>
              </a:tabLst>
            </a:pP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} </a:t>
            </a:r>
            <a:r>
              <a:rPr lang="es-E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Else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</a:t>
            </a:r>
          </a:p>
          <a:p>
            <a:pPr marL="0" indent="0">
              <a:buFont typeface="Wingdings 3" charset="2"/>
              <a:buNone/>
              <a:tabLst>
                <a:tab pos="3233738" algn="l"/>
              </a:tabLst>
            </a:pP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   </a:t>
            </a:r>
            <a:r>
              <a:rPr lang="es-E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Console.WriteLine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(“el número {0} es impar”, </a:t>
            </a:r>
            <a:r>
              <a:rPr lang="es-E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num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>
              <a:buFont typeface="Wingdings 3" charset="2"/>
              <a:buNone/>
              <a:tabLst>
                <a:tab pos="3233738" algn="l"/>
              </a:tabLst>
            </a:pP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12662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58F5D-D190-0D84-C9CC-C2F6E8738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AC50AC-2BD4-0227-9E06-EE1DA6105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/>
              <a:t>Expresiones condicionales II : Operador ternario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4B274B-5E6A-D296-C9FF-BAC99D153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25548" y="2588638"/>
            <a:ext cx="8981673" cy="424956"/>
          </a:xfrm>
          <a:ln>
            <a:solidFill>
              <a:schemeClr val="accent1"/>
            </a:solidFill>
          </a:ln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s-ES" dirty="0"/>
              <a:t>condición ? </a:t>
            </a:r>
            <a:r>
              <a:rPr lang="es-ES" dirty="0" err="1"/>
              <a:t>valor_si_verdadero</a:t>
            </a:r>
            <a:r>
              <a:rPr lang="es-ES" dirty="0"/>
              <a:t> : </a:t>
            </a:r>
            <a:r>
              <a:rPr lang="es-ES" dirty="0" err="1"/>
              <a:t>valor_si_falso</a:t>
            </a:r>
            <a:r>
              <a:rPr lang="es-ES" dirty="0"/>
              <a:t>;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A60B508E-1E5E-1AFE-1E7F-A739F2789D9E}"/>
              </a:ext>
            </a:extLst>
          </p:cNvPr>
          <p:cNvSpPr txBox="1">
            <a:spLocks/>
          </p:cNvSpPr>
          <p:nvPr/>
        </p:nvSpPr>
        <p:spPr>
          <a:xfrm>
            <a:off x="1725548" y="3428999"/>
            <a:ext cx="8981673" cy="176195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3233738" algn="l"/>
              </a:tabLst>
            </a:pPr>
            <a:r>
              <a:rPr lang="es-E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edad = 20;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string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 resultado = (edad &gt;= 18) ? "Mayor de edad" : "Menor de edad";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Console.WriteLine</a:t>
            </a:r>
            <a:r>
              <a:rPr lang="es-E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(resultado);</a:t>
            </a:r>
          </a:p>
        </p:txBody>
      </p:sp>
    </p:spTree>
    <p:extLst>
      <p:ext uri="{BB962C8B-B14F-4D97-AF65-F5344CB8AC3E}">
        <p14:creationId xmlns:p14="http://schemas.microsoft.com/office/powerpoint/2010/main" val="2409977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Expresiones condicionales III: Switch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15588" y="2174304"/>
            <a:ext cx="2864314" cy="3880773"/>
          </a:xfrm>
          <a:ln>
            <a:solidFill>
              <a:schemeClr val="accent1"/>
            </a:solidFill>
          </a:ln>
        </p:spPr>
        <p:txBody>
          <a:bodyPr anchor="ctr">
            <a:normAutofit fontScale="77500" lnSpcReduction="20000"/>
          </a:bodyPr>
          <a:lstStyle/>
          <a:p>
            <a:pPr marL="0" indent="0">
              <a:buNone/>
              <a:tabLst>
                <a:tab pos="3233738" algn="l"/>
              </a:tabLst>
            </a:pPr>
            <a:r>
              <a:rPr lang="es-ES" dirty="0"/>
              <a:t>switch (variable)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dirty="0"/>
              <a:t>{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dirty="0"/>
              <a:t>    case expresión1: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dirty="0"/>
              <a:t>        instrucciones;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dirty="0"/>
              <a:t>        break;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dirty="0"/>
              <a:t>    case expresión2: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dirty="0"/>
              <a:t>        instrucciones;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dirty="0"/>
              <a:t>        break;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dirty="0"/>
              <a:t>    …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dirty="0"/>
              <a:t>        …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dirty="0"/>
              <a:t>    default: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dirty="0"/>
              <a:t>        instrucciones;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dirty="0"/>
              <a:t>        break;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dirty="0"/>
              <a:t>}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271DB991-7539-E9D8-72CF-EC86EED192A1}"/>
              </a:ext>
            </a:extLst>
          </p:cNvPr>
          <p:cNvSpPr txBox="1">
            <a:spLocks/>
          </p:cNvSpPr>
          <p:nvPr/>
        </p:nvSpPr>
        <p:spPr>
          <a:xfrm>
            <a:off x="3858149" y="2174304"/>
            <a:ext cx="7518263" cy="388077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square" lIns="91440" tIns="45720" rIns="91440" bIns="45720" anchor="ctr" anchorCtr="0">
            <a:normAutofit fontScale="92500" lnSpcReduction="10000"/>
          </a:bodyPr>
          <a:lstStyle>
            <a:lvl1pPr marL="171461" marR="0" lvl="0" indent="-171461" algn="l" rtl="0" eaLnBrk="1" hangingPunct="1">
              <a:lnSpc>
                <a:spcPct val="90000"/>
              </a:lnSpc>
              <a:spcBef>
                <a:spcPts val="748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es-ES" sz="2105" b="0" i="0" u="none" strike="noStrike" kern="1200" cap="none" spc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1pPr>
            <a:lvl2pPr marL="514382" marR="0" lvl="1" indent="-171461" algn="l" rtl="0" eaLnBrk="1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es-ES" sz="1796" b="0" i="0" u="none" strike="noStrike" kern="1200" cap="none" spc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2pPr>
            <a:lvl3pPr marL="857304" marR="0" lvl="2" indent="-171461" algn="l" rtl="0" eaLnBrk="1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es-ES" sz="1506" b="0" i="0" u="none" strike="noStrike" kern="1200" cap="none" spc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3pPr>
            <a:lvl4pPr marL="1200226" marR="0" lvl="3" indent="-171461" algn="l" rtl="0" eaLnBrk="1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es-ES" sz="1352" b="0" i="0" u="none" strike="noStrike" kern="1200" cap="none" spc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4pPr>
            <a:lvl5pPr marL="1543146" marR="0" lvl="4" indent="-171461" algn="l" rtl="0" eaLnBrk="1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es-ES" sz="1352" b="0" i="0" u="none" strike="noStrike" kern="1200" cap="none" spc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5pPr>
            <a:lvl6pPr marL="2281245" indent="-207386" algn="l" defTabSz="829544" rtl="0" eaLnBrk="1" latinLnBrk="0" hangingPunct="1">
              <a:lnSpc>
                <a:spcPct val="90000"/>
              </a:lnSpc>
              <a:spcBef>
                <a:spcPts val="454"/>
              </a:spcBef>
              <a:buFont typeface="Arial" panose="020B0604020202020204" pitchFamily="34" charset="0"/>
              <a:buChar char="•"/>
              <a:defRPr sz="16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96017" indent="-207386" algn="l" defTabSz="829544" rtl="0" eaLnBrk="1" latinLnBrk="0" hangingPunct="1">
              <a:lnSpc>
                <a:spcPct val="90000"/>
              </a:lnSpc>
              <a:spcBef>
                <a:spcPts val="454"/>
              </a:spcBef>
              <a:buFont typeface="Arial" panose="020B0604020202020204" pitchFamily="34" charset="0"/>
              <a:buChar char="•"/>
              <a:defRPr sz="16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10789" indent="-207386" algn="l" defTabSz="829544" rtl="0" eaLnBrk="1" latinLnBrk="0" hangingPunct="1">
              <a:lnSpc>
                <a:spcPct val="90000"/>
              </a:lnSpc>
              <a:spcBef>
                <a:spcPts val="454"/>
              </a:spcBef>
              <a:buFont typeface="Arial" panose="020B0604020202020204" pitchFamily="34" charset="0"/>
              <a:buChar char="•"/>
              <a:defRPr sz="16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25561" indent="-207386" algn="l" defTabSz="829544" rtl="0" eaLnBrk="1" latinLnBrk="0" hangingPunct="1">
              <a:lnSpc>
                <a:spcPct val="90000"/>
              </a:lnSpc>
              <a:spcBef>
                <a:spcPts val="454"/>
              </a:spcBef>
              <a:buFont typeface="Arial" panose="020B0604020202020204" pitchFamily="34" charset="0"/>
              <a:buChar char="•"/>
              <a:defRPr sz="16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StarSymbol"/>
              <a:buNone/>
              <a:tabLst>
                <a:tab pos="3233738" algn="l"/>
              </a:tabLst>
            </a:pPr>
            <a:r>
              <a:rPr lang="es-ES" sz="1800" dirty="0">
                <a:latin typeface="Consolas" panose="020B0609020204030204" pitchFamily="49" charset="0"/>
              </a:rPr>
              <a:t>switch (</a:t>
            </a:r>
            <a:r>
              <a:rPr lang="es-ES" sz="1800" dirty="0" err="1">
                <a:latin typeface="Consolas" panose="020B0609020204030204" pitchFamily="49" charset="0"/>
              </a:rPr>
              <a:t>num</a:t>
            </a:r>
            <a:r>
              <a:rPr lang="es-ES" sz="18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Font typeface="StarSymbol"/>
              <a:buNone/>
              <a:tabLst>
                <a:tab pos="3233738" algn="l"/>
              </a:tabLst>
            </a:pPr>
            <a:r>
              <a:rPr lang="es-ES" sz="18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Font typeface="StarSymbol"/>
              <a:buNone/>
              <a:tabLst>
                <a:tab pos="3233738" algn="l"/>
              </a:tabLst>
            </a:pPr>
            <a:r>
              <a:rPr lang="es-ES" sz="1800" dirty="0">
                <a:latin typeface="Consolas" panose="020B0609020204030204" pitchFamily="49" charset="0"/>
              </a:rPr>
              <a:t>    case 1:</a:t>
            </a:r>
          </a:p>
          <a:p>
            <a:pPr marL="0" indent="0">
              <a:buFont typeface="StarSymbol"/>
              <a:buNone/>
              <a:tabLst>
                <a:tab pos="3233738" algn="l"/>
              </a:tabLst>
            </a:pPr>
            <a:r>
              <a:rPr lang="es-ES" sz="1800" dirty="0">
                <a:latin typeface="Consolas" panose="020B0609020204030204" pitchFamily="49" charset="0"/>
              </a:rPr>
              <a:t>        </a:t>
            </a:r>
            <a:r>
              <a:rPr lang="es-ES" sz="1800" dirty="0" err="1">
                <a:latin typeface="Consolas" panose="020B0609020204030204" pitchFamily="49" charset="0"/>
              </a:rPr>
              <a:t>Console.WriteLine</a:t>
            </a:r>
            <a:r>
              <a:rPr lang="es-ES" sz="1800" dirty="0">
                <a:latin typeface="Consolas" panose="020B0609020204030204" pitchFamily="49" charset="0"/>
              </a:rPr>
              <a:t>(“es un uno”);</a:t>
            </a:r>
          </a:p>
          <a:p>
            <a:pPr marL="0" indent="0">
              <a:buFont typeface="StarSymbol"/>
              <a:buNone/>
              <a:tabLst>
                <a:tab pos="3233738" algn="l"/>
              </a:tabLst>
            </a:pPr>
            <a:r>
              <a:rPr lang="es-ES" sz="1800" dirty="0">
                <a:latin typeface="Consolas" panose="020B0609020204030204" pitchFamily="49" charset="0"/>
              </a:rPr>
              <a:t>        break;</a:t>
            </a:r>
          </a:p>
          <a:p>
            <a:pPr marL="0" indent="0">
              <a:buFont typeface="StarSymbol"/>
              <a:buNone/>
              <a:tabLst>
                <a:tab pos="3233738" algn="l"/>
              </a:tabLst>
            </a:pPr>
            <a:r>
              <a:rPr lang="es-ES" sz="1800" dirty="0">
                <a:latin typeface="Consolas" panose="020B0609020204030204" pitchFamily="49" charset="0"/>
              </a:rPr>
              <a:t>    case </a:t>
            </a:r>
            <a:r>
              <a:rPr lang="es-ES" sz="1800" dirty="0" err="1">
                <a:latin typeface="Consolas" panose="020B0609020204030204" pitchFamily="49" charset="0"/>
              </a:rPr>
              <a:t>int</a:t>
            </a:r>
            <a:r>
              <a:rPr lang="es-ES" sz="1800" dirty="0">
                <a:latin typeface="Consolas" panose="020B0609020204030204" pitchFamily="49" charset="0"/>
              </a:rPr>
              <a:t> n </a:t>
            </a:r>
            <a:r>
              <a:rPr lang="es-ES" sz="1800" dirty="0" err="1">
                <a:latin typeface="Consolas" panose="020B0609020204030204" pitchFamily="49" charset="0"/>
              </a:rPr>
              <a:t>when</a:t>
            </a:r>
            <a:r>
              <a:rPr lang="es-ES" sz="1800" dirty="0">
                <a:latin typeface="Consolas" panose="020B0609020204030204" pitchFamily="49" charset="0"/>
              </a:rPr>
              <a:t> n&gt;=2 &amp;&amp; n&lt;=5:</a:t>
            </a:r>
          </a:p>
          <a:p>
            <a:pPr marL="0" indent="0">
              <a:buFont typeface="StarSymbol"/>
              <a:buNone/>
              <a:tabLst>
                <a:tab pos="3233738" algn="l"/>
              </a:tabLst>
            </a:pPr>
            <a:r>
              <a:rPr lang="es-ES" sz="1800" dirty="0">
                <a:latin typeface="Consolas" panose="020B0609020204030204" pitchFamily="49" charset="0"/>
              </a:rPr>
              <a:t>        </a:t>
            </a:r>
            <a:r>
              <a:rPr lang="es-ES" sz="1800" dirty="0" err="1">
                <a:latin typeface="Consolas" panose="020B0609020204030204" pitchFamily="49" charset="0"/>
              </a:rPr>
              <a:t>Console.WriteLine</a:t>
            </a:r>
            <a:r>
              <a:rPr lang="es-ES" sz="1800" dirty="0">
                <a:latin typeface="Consolas" panose="020B0609020204030204" pitchFamily="49" charset="0"/>
              </a:rPr>
              <a:t>(“esta entre el dos y cinco”);</a:t>
            </a:r>
          </a:p>
          <a:p>
            <a:pPr marL="0" indent="0">
              <a:buFont typeface="StarSymbol"/>
              <a:buNone/>
              <a:tabLst>
                <a:tab pos="3233738" algn="l"/>
              </a:tabLst>
            </a:pPr>
            <a:r>
              <a:rPr lang="es-ES" sz="1800" dirty="0">
                <a:latin typeface="Consolas" panose="020B0609020204030204" pitchFamily="49" charset="0"/>
              </a:rPr>
              <a:t>        break;</a:t>
            </a:r>
          </a:p>
          <a:p>
            <a:pPr marL="0" indent="0">
              <a:buFont typeface="StarSymbol"/>
              <a:buNone/>
              <a:tabLst>
                <a:tab pos="3233738" algn="l"/>
              </a:tabLst>
            </a:pPr>
            <a:r>
              <a:rPr lang="es-ES" sz="1800" dirty="0">
                <a:latin typeface="Consolas" panose="020B0609020204030204" pitchFamily="49" charset="0"/>
              </a:rPr>
              <a:t>    default:</a:t>
            </a:r>
          </a:p>
          <a:p>
            <a:pPr marL="0" indent="0">
              <a:buFont typeface="StarSymbol"/>
              <a:buNone/>
              <a:tabLst>
                <a:tab pos="3233738" algn="l"/>
              </a:tabLst>
            </a:pPr>
            <a:r>
              <a:rPr lang="es-ES" sz="1800" dirty="0">
                <a:latin typeface="Consolas" panose="020B0609020204030204" pitchFamily="49" charset="0"/>
              </a:rPr>
              <a:t>        </a:t>
            </a:r>
            <a:r>
              <a:rPr lang="es-ES" sz="1800" dirty="0" err="1">
                <a:latin typeface="Consolas" panose="020B0609020204030204" pitchFamily="49" charset="0"/>
              </a:rPr>
              <a:t>Console.WriteLine</a:t>
            </a:r>
            <a:r>
              <a:rPr lang="es-ES" sz="1800" dirty="0">
                <a:latin typeface="Consolas" panose="020B0609020204030204" pitchFamily="49" charset="0"/>
              </a:rPr>
              <a:t>(“es menor que uno o mayor que cinco”);</a:t>
            </a:r>
          </a:p>
          <a:p>
            <a:pPr marL="0" indent="0">
              <a:buFont typeface="StarSymbol"/>
              <a:buNone/>
              <a:tabLst>
                <a:tab pos="3233738" algn="l"/>
              </a:tabLst>
            </a:pPr>
            <a:r>
              <a:rPr lang="es-ES" sz="1800" dirty="0">
                <a:latin typeface="Consolas" panose="020B0609020204030204" pitchFamily="49" charset="0"/>
              </a:rPr>
              <a:t>        break;</a:t>
            </a:r>
          </a:p>
          <a:p>
            <a:pPr marL="0" indent="0">
              <a:buFont typeface="StarSymbol"/>
              <a:buNone/>
              <a:tabLst>
                <a:tab pos="3233738" algn="l"/>
              </a:tabLst>
            </a:pPr>
            <a:r>
              <a:rPr lang="es-ES" sz="1800" dirty="0">
                <a:latin typeface="Consolas" panose="020B06090202040302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39660554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Bucles I: </a:t>
            </a:r>
            <a:r>
              <a:rPr lang="es-ES" dirty="0" err="1"/>
              <a:t>While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69317" y="3001417"/>
            <a:ext cx="2831974" cy="2106160"/>
          </a:xfrm>
          <a:ln>
            <a:solidFill>
              <a:schemeClr val="accent1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  <a:tabLst>
                <a:tab pos="3233738" algn="l"/>
              </a:tabLst>
            </a:pPr>
            <a:r>
              <a:rPr lang="es-ES" sz="2400" dirty="0" err="1"/>
              <a:t>while</a:t>
            </a:r>
            <a:r>
              <a:rPr lang="es-ES" sz="2400" dirty="0"/>
              <a:t> (condición)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sz="2400" dirty="0"/>
              <a:t>{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sz="2400" dirty="0"/>
              <a:t>    instrucciones;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sz="2400" dirty="0"/>
              <a:t>}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A70A354D-A793-2266-48D1-90DAF0DEB450}"/>
              </a:ext>
            </a:extLst>
          </p:cNvPr>
          <p:cNvSpPr txBox="1">
            <a:spLocks/>
          </p:cNvSpPr>
          <p:nvPr/>
        </p:nvSpPr>
        <p:spPr>
          <a:xfrm>
            <a:off x="4099093" y="3001417"/>
            <a:ext cx="7254437" cy="21061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square" lIns="91440" tIns="45720" rIns="91440" bIns="45720" anchor="ctr" anchorCtr="0">
            <a:normAutofit/>
          </a:bodyPr>
          <a:lstStyle>
            <a:lvl1pPr marL="171461" marR="0" lvl="0" indent="-171461" algn="l" rtl="0" eaLnBrk="1" hangingPunct="1">
              <a:lnSpc>
                <a:spcPct val="90000"/>
              </a:lnSpc>
              <a:spcBef>
                <a:spcPts val="748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es-ES" sz="2105" b="0" i="0" u="none" strike="noStrike" kern="1200" cap="none" spc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1pPr>
            <a:lvl2pPr marL="514382" marR="0" lvl="1" indent="-171461" algn="l" rtl="0" eaLnBrk="1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es-ES" sz="1796" b="0" i="0" u="none" strike="noStrike" kern="1200" cap="none" spc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2pPr>
            <a:lvl3pPr marL="857304" marR="0" lvl="2" indent="-171461" algn="l" rtl="0" eaLnBrk="1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es-ES" sz="1506" b="0" i="0" u="none" strike="noStrike" kern="1200" cap="none" spc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3pPr>
            <a:lvl4pPr marL="1200226" marR="0" lvl="3" indent="-171461" algn="l" rtl="0" eaLnBrk="1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es-ES" sz="1352" b="0" i="0" u="none" strike="noStrike" kern="1200" cap="none" spc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4pPr>
            <a:lvl5pPr marL="1543146" marR="0" lvl="4" indent="-171461" algn="l" rtl="0" eaLnBrk="1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es-ES" sz="1352" b="0" i="0" u="none" strike="noStrike" kern="1200" cap="none" spc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5pPr>
            <a:lvl6pPr marL="2281245" indent="-207386" algn="l" defTabSz="829544" rtl="0" eaLnBrk="1" latinLnBrk="0" hangingPunct="1">
              <a:lnSpc>
                <a:spcPct val="90000"/>
              </a:lnSpc>
              <a:spcBef>
                <a:spcPts val="454"/>
              </a:spcBef>
              <a:buFont typeface="Arial" panose="020B0604020202020204" pitchFamily="34" charset="0"/>
              <a:buChar char="•"/>
              <a:defRPr sz="16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96017" indent="-207386" algn="l" defTabSz="829544" rtl="0" eaLnBrk="1" latinLnBrk="0" hangingPunct="1">
              <a:lnSpc>
                <a:spcPct val="90000"/>
              </a:lnSpc>
              <a:spcBef>
                <a:spcPts val="454"/>
              </a:spcBef>
              <a:buFont typeface="Arial" panose="020B0604020202020204" pitchFamily="34" charset="0"/>
              <a:buChar char="•"/>
              <a:defRPr sz="16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10789" indent="-207386" algn="l" defTabSz="829544" rtl="0" eaLnBrk="1" latinLnBrk="0" hangingPunct="1">
              <a:lnSpc>
                <a:spcPct val="90000"/>
              </a:lnSpc>
              <a:spcBef>
                <a:spcPts val="454"/>
              </a:spcBef>
              <a:buFont typeface="Arial" panose="020B0604020202020204" pitchFamily="34" charset="0"/>
              <a:buChar char="•"/>
              <a:defRPr sz="16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25561" indent="-207386" algn="l" defTabSz="829544" rtl="0" eaLnBrk="1" latinLnBrk="0" hangingPunct="1">
              <a:lnSpc>
                <a:spcPct val="90000"/>
              </a:lnSpc>
              <a:spcBef>
                <a:spcPts val="454"/>
              </a:spcBef>
              <a:buFont typeface="Arial" panose="020B0604020202020204" pitchFamily="34" charset="0"/>
              <a:buChar char="•"/>
              <a:defRPr sz="16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StarSymbol"/>
              <a:buNone/>
              <a:tabLst>
                <a:tab pos="3233738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while (</a:t>
            </a:r>
            <a:r>
              <a:rPr lang="en-US" sz="2000" dirty="0" err="1">
                <a:latin typeface="Consolas" panose="020B0609020204030204" pitchFamily="49" charset="0"/>
              </a:rPr>
              <a:t>numero</a:t>
            </a:r>
            <a:r>
              <a:rPr lang="en-US" sz="2000" dirty="0">
                <a:latin typeface="Consolas" panose="020B0609020204030204" pitchFamily="49" charset="0"/>
              </a:rPr>
              <a:t>&lt;10)</a:t>
            </a:r>
          </a:p>
          <a:p>
            <a:pPr marL="0" indent="0">
              <a:buFont typeface="StarSymbol"/>
              <a:buNone/>
              <a:tabLst>
                <a:tab pos="3233738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Font typeface="StarSymbol"/>
              <a:buNone/>
              <a:tabLst>
                <a:tab pos="3233738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Console.WriteLine</a:t>
            </a:r>
            <a:r>
              <a:rPr lang="en-US" sz="2000" dirty="0">
                <a:latin typeface="Consolas" panose="020B0609020204030204" pitchFamily="49" charset="0"/>
              </a:rPr>
              <a:t>($“El </a:t>
            </a:r>
            <a:r>
              <a:rPr lang="en-US" sz="2000" dirty="0" err="1">
                <a:latin typeface="Consolas" panose="020B0609020204030204" pitchFamily="49" charset="0"/>
              </a:rPr>
              <a:t>número</a:t>
            </a:r>
            <a:r>
              <a:rPr lang="en-US" sz="2000" dirty="0">
                <a:latin typeface="Consolas" panose="020B0609020204030204" pitchFamily="49" charset="0"/>
              </a:rPr>
              <a:t> es {</a:t>
            </a:r>
            <a:r>
              <a:rPr lang="en-US" sz="2000" dirty="0" err="1">
                <a:latin typeface="Consolas" panose="020B0609020204030204" pitchFamily="49" charset="0"/>
              </a:rPr>
              <a:t>numero</a:t>
            </a:r>
            <a:r>
              <a:rPr lang="en-US" sz="2000" dirty="0">
                <a:latin typeface="Consolas" panose="020B0609020204030204" pitchFamily="49" charset="0"/>
              </a:rPr>
              <a:t>}”);</a:t>
            </a:r>
          </a:p>
          <a:p>
            <a:pPr marL="0" indent="0">
              <a:buFont typeface="StarSymbol"/>
              <a:buNone/>
              <a:tabLst>
                <a:tab pos="3233738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numero</a:t>
            </a:r>
            <a:r>
              <a:rPr lang="en-US" sz="2000" dirty="0">
                <a:latin typeface="Consolas" panose="020B0609020204030204" pitchFamily="49" charset="0"/>
              </a:rPr>
              <a:t>+=2;</a:t>
            </a:r>
          </a:p>
          <a:p>
            <a:pPr marL="0" indent="0">
              <a:buFont typeface="StarSymbol"/>
              <a:buNone/>
              <a:tabLst>
                <a:tab pos="3233738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516073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AC70B-37FD-8723-F903-4C6A8CB31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67A450-EE82-93F6-7F80-A8723CFFC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Bucles I: Do…</a:t>
            </a:r>
            <a:r>
              <a:rPr lang="es-ES" dirty="0" err="1"/>
              <a:t>While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8A7050-1866-ACD3-60B7-5E1935F678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9317" y="3001417"/>
            <a:ext cx="2831974" cy="2106160"/>
          </a:xfrm>
          <a:ln>
            <a:solidFill>
              <a:schemeClr val="accent1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  <a:tabLst>
                <a:tab pos="3233738" algn="l"/>
              </a:tabLst>
            </a:pPr>
            <a:r>
              <a:rPr lang="es-ES" sz="2400" dirty="0"/>
              <a:t>do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sz="2400" dirty="0"/>
              <a:t>{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sz="2400" dirty="0"/>
              <a:t>    instrucciones;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sz="2400" dirty="0"/>
              <a:t>} </a:t>
            </a:r>
            <a:r>
              <a:rPr lang="es-ES" sz="2400" dirty="0" err="1"/>
              <a:t>while</a:t>
            </a:r>
            <a:r>
              <a:rPr lang="es-ES" sz="2400" dirty="0"/>
              <a:t> (condición);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D1C342D9-9003-B79F-739A-E26055D9A98C}"/>
              </a:ext>
            </a:extLst>
          </p:cNvPr>
          <p:cNvSpPr txBox="1">
            <a:spLocks/>
          </p:cNvSpPr>
          <p:nvPr/>
        </p:nvSpPr>
        <p:spPr>
          <a:xfrm>
            <a:off x="4099093" y="3001417"/>
            <a:ext cx="7254437" cy="21061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square" lIns="91440" tIns="45720" rIns="91440" bIns="45720" anchor="ctr" anchorCtr="0">
            <a:normAutofit/>
          </a:bodyPr>
          <a:lstStyle>
            <a:lvl1pPr marL="171461" marR="0" lvl="0" indent="-171461" algn="l" rtl="0" eaLnBrk="1" hangingPunct="1">
              <a:lnSpc>
                <a:spcPct val="90000"/>
              </a:lnSpc>
              <a:spcBef>
                <a:spcPts val="748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es-ES" sz="2105" b="0" i="0" u="none" strike="noStrike" kern="1200" cap="none" spc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1pPr>
            <a:lvl2pPr marL="514382" marR="0" lvl="1" indent="-171461" algn="l" rtl="0" eaLnBrk="1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es-ES" sz="1796" b="0" i="0" u="none" strike="noStrike" kern="1200" cap="none" spc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2pPr>
            <a:lvl3pPr marL="857304" marR="0" lvl="2" indent="-171461" algn="l" rtl="0" eaLnBrk="1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es-ES" sz="1506" b="0" i="0" u="none" strike="noStrike" kern="1200" cap="none" spc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3pPr>
            <a:lvl4pPr marL="1200226" marR="0" lvl="3" indent="-171461" algn="l" rtl="0" eaLnBrk="1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es-ES" sz="1352" b="0" i="0" u="none" strike="noStrike" kern="1200" cap="none" spc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4pPr>
            <a:lvl5pPr marL="1543146" marR="0" lvl="4" indent="-171461" algn="l" rtl="0" eaLnBrk="1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es-ES" sz="1352" b="0" i="0" u="none" strike="noStrike" kern="1200" cap="none" spc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5pPr>
            <a:lvl6pPr marL="2281245" indent="-207386" algn="l" defTabSz="829544" rtl="0" eaLnBrk="1" latinLnBrk="0" hangingPunct="1">
              <a:lnSpc>
                <a:spcPct val="90000"/>
              </a:lnSpc>
              <a:spcBef>
                <a:spcPts val="454"/>
              </a:spcBef>
              <a:buFont typeface="Arial" panose="020B0604020202020204" pitchFamily="34" charset="0"/>
              <a:buChar char="•"/>
              <a:defRPr sz="16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96017" indent="-207386" algn="l" defTabSz="829544" rtl="0" eaLnBrk="1" latinLnBrk="0" hangingPunct="1">
              <a:lnSpc>
                <a:spcPct val="90000"/>
              </a:lnSpc>
              <a:spcBef>
                <a:spcPts val="454"/>
              </a:spcBef>
              <a:buFont typeface="Arial" panose="020B0604020202020204" pitchFamily="34" charset="0"/>
              <a:buChar char="•"/>
              <a:defRPr sz="16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10789" indent="-207386" algn="l" defTabSz="829544" rtl="0" eaLnBrk="1" latinLnBrk="0" hangingPunct="1">
              <a:lnSpc>
                <a:spcPct val="90000"/>
              </a:lnSpc>
              <a:spcBef>
                <a:spcPts val="454"/>
              </a:spcBef>
              <a:buFont typeface="Arial" panose="020B0604020202020204" pitchFamily="34" charset="0"/>
              <a:buChar char="•"/>
              <a:defRPr sz="16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25561" indent="-207386" algn="l" defTabSz="829544" rtl="0" eaLnBrk="1" latinLnBrk="0" hangingPunct="1">
              <a:lnSpc>
                <a:spcPct val="90000"/>
              </a:lnSpc>
              <a:spcBef>
                <a:spcPts val="454"/>
              </a:spcBef>
              <a:buFont typeface="Arial" panose="020B0604020202020204" pitchFamily="34" charset="0"/>
              <a:buChar char="•"/>
              <a:defRPr sz="16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StarSymbol"/>
              <a:buNone/>
              <a:tabLst>
                <a:tab pos="3233738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do</a:t>
            </a:r>
          </a:p>
          <a:p>
            <a:pPr marL="0" indent="0">
              <a:buFont typeface="StarSymbol"/>
              <a:buNone/>
              <a:tabLst>
                <a:tab pos="3233738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Font typeface="StarSymbol"/>
              <a:buNone/>
              <a:tabLst>
                <a:tab pos="3233738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Console.WriteLine</a:t>
            </a:r>
            <a:r>
              <a:rPr lang="en-US" sz="2000" dirty="0">
                <a:latin typeface="Consolas" panose="020B0609020204030204" pitchFamily="49" charset="0"/>
              </a:rPr>
              <a:t>($“El </a:t>
            </a:r>
            <a:r>
              <a:rPr lang="en-US" sz="2000" dirty="0" err="1">
                <a:latin typeface="Consolas" panose="020B0609020204030204" pitchFamily="49" charset="0"/>
              </a:rPr>
              <a:t>número</a:t>
            </a:r>
            <a:r>
              <a:rPr lang="en-US" sz="2000" dirty="0">
                <a:latin typeface="Consolas" panose="020B0609020204030204" pitchFamily="49" charset="0"/>
              </a:rPr>
              <a:t> es {</a:t>
            </a:r>
            <a:r>
              <a:rPr lang="en-US" sz="2000" dirty="0" err="1">
                <a:latin typeface="Consolas" panose="020B0609020204030204" pitchFamily="49" charset="0"/>
              </a:rPr>
              <a:t>numero</a:t>
            </a:r>
            <a:r>
              <a:rPr lang="en-US" sz="2000" dirty="0">
                <a:latin typeface="Consolas" panose="020B0609020204030204" pitchFamily="49" charset="0"/>
              </a:rPr>
              <a:t>}”);</a:t>
            </a:r>
          </a:p>
          <a:p>
            <a:pPr marL="0" indent="0">
              <a:buFont typeface="StarSymbol"/>
              <a:buNone/>
              <a:tabLst>
                <a:tab pos="3233738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    </a:t>
            </a:r>
            <a:r>
              <a:rPr lang="en-US" sz="2000" dirty="0" err="1">
                <a:latin typeface="Consolas" panose="020B0609020204030204" pitchFamily="49" charset="0"/>
              </a:rPr>
              <a:t>numero</a:t>
            </a:r>
            <a:r>
              <a:rPr lang="en-US" sz="2000" dirty="0">
                <a:latin typeface="Consolas" panose="020B0609020204030204" pitchFamily="49" charset="0"/>
              </a:rPr>
              <a:t>+=2;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n-US" sz="2000" dirty="0">
                <a:latin typeface="Consolas" panose="020B0609020204030204" pitchFamily="49" charset="0"/>
              </a:rPr>
              <a:t>}while (</a:t>
            </a:r>
            <a:r>
              <a:rPr lang="en-US" sz="2000" dirty="0" err="1">
                <a:latin typeface="Consolas" panose="020B0609020204030204" pitchFamily="49" charset="0"/>
              </a:rPr>
              <a:t>numero</a:t>
            </a:r>
            <a:r>
              <a:rPr lang="en-US" sz="2000" dirty="0">
                <a:latin typeface="Consolas" panose="020B0609020204030204" pitchFamily="49" charset="0"/>
              </a:rPr>
              <a:t>&lt;10);</a:t>
            </a:r>
          </a:p>
        </p:txBody>
      </p:sp>
    </p:spTree>
    <p:extLst>
      <p:ext uri="{BB962C8B-B14F-4D97-AF65-F5344CB8AC3E}">
        <p14:creationId xmlns:p14="http://schemas.microsoft.com/office/powerpoint/2010/main" val="10893458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Bucles III: </a:t>
            </a:r>
            <a:r>
              <a:rPr lang="es-ES" dirty="0" err="1"/>
              <a:t>For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4681" y="2771005"/>
            <a:ext cx="4904812" cy="2153692"/>
          </a:xfrm>
          <a:ln>
            <a:solidFill>
              <a:schemeClr val="accent1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  <a:tabLst>
                <a:tab pos="2155825" algn="l"/>
              </a:tabLst>
            </a:pPr>
            <a:r>
              <a:rPr lang="es-ES" sz="2400" dirty="0" err="1"/>
              <a:t>for</a:t>
            </a:r>
            <a:r>
              <a:rPr lang="es-ES" sz="2400" dirty="0"/>
              <a:t> (inicialización; condición; incremento/decremento)</a:t>
            </a:r>
          </a:p>
          <a:p>
            <a:pPr marL="0" indent="0">
              <a:buNone/>
              <a:tabLst>
                <a:tab pos="2155825" algn="l"/>
              </a:tabLst>
            </a:pPr>
            <a:r>
              <a:rPr lang="es-ES" sz="2400" dirty="0"/>
              <a:t>{</a:t>
            </a:r>
          </a:p>
          <a:p>
            <a:pPr marL="0" indent="0">
              <a:buNone/>
              <a:tabLst>
                <a:tab pos="2155825" algn="l"/>
              </a:tabLst>
            </a:pPr>
            <a:r>
              <a:rPr lang="es-ES" sz="2400" dirty="0"/>
              <a:t>    instrucciones;</a:t>
            </a:r>
          </a:p>
          <a:p>
            <a:pPr marL="0" indent="0">
              <a:buNone/>
              <a:tabLst>
                <a:tab pos="2155825" algn="l"/>
              </a:tabLst>
            </a:pPr>
            <a:r>
              <a:rPr lang="es-ES" sz="2400" dirty="0"/>
              <a:t>}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16ACF5A7-726F-D54B-82A9-8A396784AEE6}"/>
              </a:ext>
            </a:extLst>
          </p:cNvPr>
          <p:cNvSpPr txBox="1">
            <a:spLocks/>
          </p:cNvSpPr>
          <p:nvPr/>
        </p:nvSpPr>
        <p:spPr>
          <a:xfrm>
            <a:off x="5675971" y="2771004"/>
            <a:ext cx="6001348" cy="21536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square" lIns="91440" tIns="45720" rIns="91440" bIns="45720" anchor="ctr" anchorCtr="0">
            <a:normAutofit/>
          </a:bodyPr>
          <a:lstStyle>
            <a:lvl1pPr marL="171461" marR="0" lvl="0" indent="-171461" algn="l" rtl="0" eaLnBrk="1" hangingPunct="1">
              <a:lnSpc>
                <a:spcPct val="90000"/>
              </a:lnSpc>
              <a:spcBef>
                <a:spcPts val="748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es-ES" sz="2105" b="0" i="0" u="none" strike="noStrike" kern="1200" cap="none" spc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1pPr>
            <a:lvl2pPr marL="514382" marR="0" lvl="1" indent="-171461" algn="l" rtl="0" eaLnBrk="1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es-ES" sz="1796" b="0" i="0" u="none" strike="noStrike" kern="1200" cap="none" spc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2pPr>
            <a:lvl3pPr marL="857304" marR="0" lvl="2" indent="-171461" algn="l" rtl="0" eaLnBrk="1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es-ES" sz="1506" b="0" i="0" u="none" strike="noStrike" kern="1200" cap="none" spc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3pPr>
            <a:lvl4pPr marL="1200226" marR="0" lvl="3" indent="-171461" algn="l" rtl="0" eaLnBrk="1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es-ES" sz="1352" b="0" i="0" u="none" strike="noStrike" kern="1200" cap="none" spc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4pPr>
            <a:lvl5pPr marL="1543146" marR="0" lvl="4" indent="-171461" algn="l" rtl="0" eaLnBrk="1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es-ES" sz="1352" b="0" i="0" u="none" strike="noStrike" kern="1200" cap="none" spc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5pPr>
            <a:lvl6pPr marL="2281245" indent="-207386" algn="l" defTabSz="829544" rtl="0" eaLnBrk="1" latinLnBrk="0" hangingPunct="1">
              <a:lnSpc>
                <a:spcPct val="90000"/>
              </a:lnSpc>
              <a:spcBef>
                <a:spcPts val="454"/>
              </a:spcBef>
              <a:buFont typeface="Arial" panose="020B0604020202020204" pitchFamily="34" charset="0"/>
              <a:buChar char="•"/>
              <a:defRPr sz="16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96017" indent="-207386" algn="l" defTabSz="829544" rtl="0" eaLnBrk="1" latinLnBrk="0" hangingPunct="1">
              <a:lnSpc>
                <a:spcPct val="90000"/>
              </a:lnSpc>
              <a:spcBef>
                <a:spcPts val="454"/>
              </a:spcBef>
              <a:buFont typeface="Arial" panose="020B0604020202020204" pitchFamily="34" charset="0"/>
              <a:buChar char="•"/>
              <a:defRPr sz="16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10789" indent="-207386" algn="l" defTabSz="829544" rtl="0" eaLnBrk="1" latinLnBrk="0" hangingPunct="1">
              <a:lnSpc>
                <a:spcPct val="90000"/>
              </a:lnSpc>
              <a:spcBef>
                <a:spcPts val="454"/>
              </a:spcBef>
              <a:buFont typeface="Arial" panose="020B0604020202020204" pitchFamily="34" charset="0"/>
              <a:buChar char="•"/>
              <a:defRPr sz="16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25561" indent="-207386" algn="l" defTabSz="829544" rtl="0" eaLnBrk="1" latinLnBrk="0" hangingPunct="1">
              <a:lnSpc>
                <a:spcPct val="90000"/>
              </a:lnSpc>
              <a:spcBef>
                <a:spcPts val="454"/>
              </a:spcBef>
              <a:buFont typeface="Arial" panose="020B0604020202020204" pitchFamily="34" charset="0"/>
              <a:buChar char="•"/>
              <a:defRPr sz="16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StarSymbol"/>
              <a:buNone/>
              <a:tabLst>
                <a:tab pos="2155825" algn="l"/>
              </a:tabLst>
            </a:pPr>
            <a:r>
              <a:rPr lang="es-ES" sz="2400" dirty="0" err="1">
                <a:latin typeface="Consolas" panose="020B0609020204030204" pitchFamily="49" charset="0"/>
              </a:rPr>
              <a:t>for</a:t>
            </a:r>
            <a:r>
              <a:rPr lang="es-ES" sz="2400" dirty="0">
                <a:latin typeface="Consolas" panose="020B0609020204030204" pitchFamily="49" charset="0"/>
              </a:rPr>
              <a:t> (</a:t>
            </a:r>
            <a:r>
              <a:rPr lang="es-ES" sz="2400" dirty="0" err="1">
                <a:latin typeface="Consolas" panose="020B0609020204030204" pitchFamily="49" charset="0"/>
              </a:rPr>
              <a:t>int</a:t>
            </a:r>
            <a:r>
              <a:rPr lang="es-ES" sz="2400" dirty="0">
                <a:latin typeface="Consolas" panose="020B0609020204030204" pitchFamily="49" charset="0"/>
              </a:rPr>
              <a:t> i=0; i &lt; 10; i++)</a:t>
            </a:r>
          </a:p>
          <a:p>
            <a:pPr marL="0" indent="0">
              <a:buFont typeface="StarSymbol"/>
              <a:buNone/>
              <a:tabLst>
                <a:tab pos="2155825" algn="l"/>
              </a:tabLst>
            </a:pPr>
            <a:r>
              <a:rPr lang="es-ES" sz="24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Font typeface="StarSymbol"/>
              <a:buNone/>
              <a:tabLst>
                <a:tab pos="2155825" algn="l"/>
              </a:tabLst>
            </a:pPr>
            <a:r>
              <a:rPr lang="es-ES" sz="2400" dirty="0">
                <a:latin typeface="Consolas" panose="020B0609020204030204" pitchFamily="49" charset="0"/>
              </a:rPr>
              <a:t>   </a:t>
            </a:r>
            <a:r>
              <a:rPr lang="en-US" sz="2400" dirty="0" err="1">
                <a:latin typeface="Consolas" panose="020B0609020204030204" pitchFamily="49" charset="0"/>
              </a:rPr>
              <a:t>Console.WriteLine</a:t>
            </a:r>
            <a:r>
              <a:rPr lang="en-US" sz="2400" dirty="0">
                <a:latin typeface="Consolas" panose="020B0609020204030204" pitchFamily="49" charset="0"/>
              </a:rPr>
              <a:t>($“El </a:t>
            </a:r>
            <a:r>
              <a:rPr lang="en-US" sz="2400" dirty="0" err="1">
                <a:latin typeface="Consolas" panose="020B0609020204030204" pitchFamily="49" charset="0"/>
              </a:rPr>
              <a:t>número</a:t>
            </a:r>
            <a:r>
              <a:rPr lang="en-US" sz="2400" dirty="0">
                <a:latin typeface="Consolas" panose="020B0609020204030204" pitchFamily="49" charset="0"/>
              </a:rPr>
              <a:t> es {</a:t>
            </a:r>
            <a:r>
              <a:rPr lang="en-US" sz="2400" dirty="0" err="1">
                <a:latin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</a:rPr>
              <a:t>}”);</a:t>
            </a:r>
          </a:p>
          <a:p>
            <a:pPr marL="0" indent="0">
              <a:buFont typeface="StarSymbol"/>
              <a:buNone/>
              <a:tabLst>
                <a:tab pos="2155825" algn="l"/>
              </a:tabLst>
            </a:pPr>
            <a:r>
              <a:rPr lang="es-ES" sz="24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352932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8A73AE-31F3-4255-B5A5-B2E8967FF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Excepciones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C9A371FF-ECDD-45C2-A40A-14C56FEAA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244" y="1939511"/>
            <a:ext cx="2938293" cy="4317597"/>
          </a:xfrm>
          <a:ln>
            <a:solidFill>
              <a:schemeClr val="accent1"/>
            </a:solidFill>
          </a:ln>
        </p:spPr>
        <p:txBody>
          <a:bodyPr anchor="ctr">
            <a:normAutofit lnSpcReduction="10000"/>
          </a:bodyPr>
          <a:lstStyle/>
          <a:p>
            <a:pPr marL="0" indent="0">
              <a:buNone/>
              <a:tabLst>
                <a:tab pos="3233738" algn="l"/>
              </a:tabLst>
            </a:pPr>
            <a:r>
              <a:rPr lang="es-ES" dirty="0"/>
              <a:t>try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dirty="0"/>
              <a:t>{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dirty="0"/>
              <a:t>    instrucciones;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dirty="0"/>
              <a:t>} 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dirty="0"/>
              <a:t>[catch [(tipo </a:t>
            </a:r>
            <a:r>
              <a:rPr lang="es-ES" dirty="0" err="1"/>
              <a:t>exception</a:t>
            </a:r>
            <a:r>
              <a:rPr lang="es-ES" dirty="0"/>
              <a:t>)]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dirty="0"/>
              <a:t>{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dirty="0"/>
              <a:t>    instrucciones;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dirty="0"/>
              <a:t>}]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dirty="0"/>
              <a:t>[</a:t>
            </a:r>
            <a:r>
              <a:rPr lang="es-ES" dirty="0" err="1"/>
              <a:t>finally</a:t>
            </a:r>
            <a:endParaRPr lang="es-ES" dirty="0"/>
          </a:p>
          <a:p>
            <a:pPr marL="0" indent="0">
              <a:buNone/>
              <a:tabLst>
                <a:tab pos="3233738" algn="l"/>
              </a:tabLst>
            </a:pPr>
            <a:r>
              <a:rPr lang="es-ES" dirty="0"/>
              <a:t>{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dirty="0"/>
              <a:t>    instrucciones;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dirty="0"/>
              <a:t>}]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2DEBE36-4E0D-6F4F-D461-A6B1F5FCD3B6}"/>
              </a:ext>
            </a:extLst>
          </p:cNvPr>
          <p:cNvSpPr txBox="1">
            <a:spLocks/>
          </p:cNvSpPr>
          <p:nvPr/>
        </p:nvSpPr>
        <p:spPr>
          <a:xfrm>
            <a:off x="3918857" y="1939511"/>
            <a:ext cx="7772399" cy="43175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square" lIns="91440" tIns="45720" rIns="91440" bIns="45720" anchor="ctr" anchorCtr="0">
            <a:normAutofit fontScale="92500" lnSpcReduction="10000"/>
          </a:bodyPr>
          <a:lstStyle>
            <a:lvl1pPr marL="171461" marR="0" lvl="0" indent="-171461" algn="l" rtl="0" eaLnBrk="1" hangingPunct="1">
              <a:lnSpc>
                <a:spcPct val="90000"/>
              </a:lnSpc>
              <a:spcBef>
                <a:spcPts val="748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es-ES" sz="2105" b="0" i="0" u="none" strike="noStrike" kern="1200" cap="none" spc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1pPr>
            <a:lvl2pPr marL="514382" marR="0" lvl="1" indent="-171461" algn="l" rtl="0" eaLnBrk="1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es-ES" sz="1796" b="0" i="0" u="none" strike="noStrike" kern="1200" cap="none" spc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2pPr>
            <a:lvl3pPr marL="857304" marR="0" lvl="2" indent="-171461" algn="l" rtl="0" eaLnBrk="1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es-ES" sz="1506" b="0" i="0" u="none" strike="noStrike" kern="1200" cap="none" spc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3pPr>
            <a:lvl4pPr marL="1200226" marR="0" lvl="3" indent="-171461" algn="l" rtl="0" eaLnBrk="1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es-ES" sz="1352" b="0" i="0" u="none" strike="noStrike" kern="1200" cap="none" spc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4pPr>
            <a:lvl5pPr marL="1543146" marR="0" lvl="4" indent="-171461" algn="l" rtl="0" eaLnBrk="1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es-ES" sz="1352" b="0" i="0" u="none" strike="noStrike" kern="1200" cap="none" spc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5pPr>
            <a:lvl6pPr marL="2281245" indent="-207386" algn="l" defTabSz="829544" rtl="0" eaLnBrk="1" latinLnBrk="0" hangingPunct="1">
              <a:lnSpc>
                <a:spcPct val="90000"/>
              </a:lnSpc>
              <a:spcBef>
                <a:spcPts val="454"/>
              </a:spcBef>
              <a:buFont typeface="Arial" panose="020B0604020202020204" pitchFamily="34" charset="0"/>
              <a:buChar char="•"/>
              <a:defRPr sz="16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96017" indent="-207386" algn="l" defTabSz="829544" rtl="0" eaLnBrk="1" latinLnBrk="0" hangingPunct="1">
              <a:lnSpc>
                <a:spcPct val="90000"/>
              </a:lnSpc>
              <a:spcBef>
                <a:spcPts val="454"/>
              </a:spcBef>
              <a:buFont typeface="Arial" panose="020B0604020202020204" pitchFamily="34" charset="0"/>
              <a:buChar char="•"/>
              <a:defRPr sz="16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10789" indent="-207386" algn="l" defTabSz="829544" rtl="0" eaLnBrk="1" latinLnBrk="0" hangingPunct="1">
              <a:lnSpc>
                <a:spcPct val="90000"/>
              </a:lnSpc>
              <a:spcBef>
                <a:spcPts val="454"/>
              </a:spcBef>
              <a:buFont typeface="Arial" panose="020B0604020202020204" pitchFamily="34" charset="0"/>
              <a:buChar char="•"/>
              <a:defRPr sz="16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25561" indent="-207386" algn="l" defTabSz="829544" rtl="0" eaLnBrk="1" latinLnBrk="0" hangingPunct="1">
              <a:lnSpc>
                <a:spcPct val="90000"/>
              </a:lnSpc>
              <a:spcBef>
                <a:spcPts val="454"/>
              </a:spcBef>
              <a:buFont typeface="Arial" panose="020B0604020202020204" pitchFamily="34" charset="0"/>
              <a:buChar char="•"/>
              <a:defRPr sz="16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3233738" algn="l"/>
              </a:tabLst>
            </a:pPr>
            <a:r>
              <a:rPr lang="es-ES" sz="1800" dirty="0">
                <a:latin typeface="Consolas" panose="020B0609020204030204" pitchFamily="49" charset="0"/>
              </a:rPr>
              <a:t>Try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sz="1800" dirty="0">
                <a:latin typeface="Consolas" panose="020B0609020204030204" pitchFamily="49" charset="0"/>
              </a:rPr>
              <a:t>{    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sz="1800" dirty="0">
                <a:latin typeface="Consolas" panose="020B0609020204030204" pitchFamily="49" charset="0"/>
              </a:rPr>
              <a:t>    </a:t>
            </a:r>
            <a:r>
              <a:rPr lang="es-ES" sz="1800" dirty="0" err="1">
                <a:latin typeface="Consolas" panose="020B0609020204030204" pitchFamily="49" charset="0"/>
              </a:rPr>
              <a:t>int</a:t>
            </a:r>
            <a:r>
              <a:rPr lang="es-ES" sz="1800" dirty="0">
                <a:latin typeface="Consolas" panose="020B0609020204030204" pitchFamily="49" charset="0"/>
              </a:rPr>
              <a:t> a = 10;    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sz="1800" dirty="0">
                <a:latin typeface="Consolas" panose="020B0609020204030204" pitchFamily="49" charset="0"/>
              </a:rPr>
              <a:t>    </a:t>
            </a:r>
            <a:r>
              <a:rPr lang="es-ES" sz="1800" dirty="0" err="1">
                <a:latin typeface="Consolas" panose="020B0609020204030204" pitchFamily="49" charset="0"/>
              </a:rPr>
              <a:t>int</a:t>
            </a:r>
            <a:r>
              <a:rPr lang="es-ES" sz="1800" dirty="0">
                <a:latin typeface="Consolas" panose="020B0609020204030204" pitchFamily="49" charset="0"/>
              </a:rPr>
              <a:t> b = 0;    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sz="1800" dirty="0">
                <a:latin typeface="Consolas" panose="020B0609020204030204" pitchFamily="49" charset="0"/>
              </a:rPr>
              <a:t>    </a:t>
            </a:r>
            <a:r>
              <a:rPr lang="es-ES" sz="1800" dirty="0" err="1">
                <a:latin typeface="Consolas" panose="020B0609020204030204" pitchFamily="49" charset="0"/>
              </a:rPr>
              <a:t>int</a:t>
            </a:r>
            <a:r>
              <a:rPr lang="es-ES" sz="1800" dirty="0">
                <a:latin typeface="Consolas" panose="020B0609020204030204" pitchFamily="49" charset="0"/>
              </a:rPr>
              <a:t> resultado = a / b; // Lanza </a:t>
            </a:r>
            <a:r>
              <a:rPr lang="es-ES" sz="1800" dirty="0" err="1">
                <a:latin typeface="Consolas" panose="020B0609020204030204" pitchFamily="49" charset="0"/>
              </a:rPr>
              <a:t>DivideByZeroException</a:t>
            </a:r>
            <a:endParaRPr lang="es-ES" sz="1800" dirty="0"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3233738" algn="l"/>
              </a:tabLst>
            </a:pPr>
            <a:r>
              <a:rPr lang="es-ES" sz="1800" dirty="0">
                <a:latin typeface="Consolas" panose="020B0609020204030204" pitchFamily="49" charset="0"/>
              </a:rPr>
              <a:t>} 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sz="1800" dirty="0">
                <a:latin typeface="Consolas" panose="020B0609020204030204" pitchFamily="49" charset="0"/>
              </a:rPr>
              <a:t>catch (</a:t>
            </a:r>
            <a:r>
              <a:rPr lang="es-ES" sz="1800" dirty="0" err="1">
                <a:latin typeface="Consolas" panose="020B0609020204030204" pitchFamily="49" charset="0"/>
              </a:rPr>
              <a:t>DivideByZeroException</a:t>
            </a:r>
            <a:r>
              <a:rPr lang="es-ES" sz="1800" dirty="0">
                <a:latin typeface="Consolas" panose="020B0609020204030204" pitchFamily="49" charset="0"/>
              </a:rPr>
              <a:t> ex)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sz="1800" dirty="0">
                <a:latin typeface="Consolas" panose="020B0609020204030204" pitchFamily="49" charset="0"/>
              </a:rPr>
              <a:t>{    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sz="1800" dirty="0">
                <a:latin typeface="Consolas" panose="020B0609020204030204" pitchFamily="49" charset="0"/>
              </a:rPr>
              <a:t>    </a:t>
            </a:r>
            <a:r>
              <a:rPr lang="es-ES" sz="1800" dirty="0" err="1">
                <a:latin typeface="Consolas" panose="020B0609020204030204" pitchFamily="49" charset="0"/>
              </a:rPr>
              <a:t>Console.WriteLine</a:t>
            </a:r>
            <a:r>
              <a:rPr lang="es-ES" sz="1800" dirty="0">
                <a:latin typeface="Consolas" panose="020B0609020204030204" pitchFamily="49" charset="0"/>
              </a:rPr>
              <a:t>("Error: No se puede dividir por cero.");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sz="18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sz="1800" dirty="0" err="1">
                <a:latin typeface="Consolas" panose="020B0609020204030204" pitchFamily="49" charset="0"/>
              </a:rPr>
              <a:t>Finally</a:t>
            </a:r>
            <a:endParaRPr lang="es-ES" sz="1800" dirty="0"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3233738" algn="l"/>
              </a:tabLst>
            </a:pPr>
            <a:r>
              <a:rPr lang="es-ES" sz="1800" dirty="0">
                <a:latin typeface="Consolas" panose="020B0609020204030204" pitchFamily="49" charset="0"/>
              </a:rPr>
              <a:t>{    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sz="1800" dirty="0">
                <a:latin typeface="Consolas" panose="020B0609020204030204" pitchFamily="49" charset="0"/>
              </a:rPr>
              <a:t>    </a:t>
            </a:r>
            <a:r>
              <a:rPr lang="es-ES" sz="1800" dirty="0" err="1">
                <a:latin typeface="Consolas" panose="020B0609020204030204" pitchFamily="49" charset="0"/>
              </a:rPr>
              <a:t>Console.WriteLine</a:t>
            </a:r>
            <a:r>
              <a:rPr lang="es-ES" sz="1800" dirty="0">
                <a:latin typeface="Consolas" panose="020B0609020204030204" pitchFamily="49" charset="0"/>
              </a:rPr>
              <a:t>("Esto se ejecuta siempre.");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sz="18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621990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99D2FB-8B1B-B4D5-02D8-D7C2F96FE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1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126FD9-C35D-D59E-EBE1-A9C8929F2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 rtl="0">
              <a:lnSpc>
                <a:spcPct val="150000"/>
              </a:lnSpc>
              <a:buNone/>
            </a:pPr>
            <a:r>
              <a:rPr lang="es-ES" sz="2400" dirty="0">
                <a:effectLst/>
                <a:latin typeface="Arial, sans-serif"/>
              </a:rPr>
              <a:t>Diseña un programa que obtenga la calificación mayor y la calificación menor, de un grupo de 40 estudiantes, además de los nombres de dichos alumnos.</a:t>
            </a:r>
            <a:endParaRPr lang="es-ES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777734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Métodos I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147" y="1690733"/>
            <a:ext cx="7665773" cy="2071371"/>
          </a:xfrm>
          <a:ln>
            <a:solidFill>
              <a:schemeClr val="accent1"/>
            </a:solidFill>
          </a:ln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s-ES" sz="2400" dirty="0"/>
              <a:t>[modificador] [</a:t>
            </a:r>
            <a:r>
              <a:rPr lang="es-ES" sz="2400" dirty="0" err="1"/>
              <a:t>tipo_retorno</a:t>
            </a:r>
            <a:r>
              <a:rPr lang="es-ES" sz="2400" dirty="0"/>
              <a:t>] </a:t>
            </a:r>
            <a:r>
              <a:rPr lang="es-ES" sz="2400" dirty="0" err="1"/>
              <a:t>NombreFuncion</a:t>
            </a:r>
            <a:r>
              <a:rPr lang="es-ES" sz="2400" dirty="0"/>
              <a:t>([parámetros])</a:t>
            </a:r>
          </a:p>
          <a:p>
            <a:pPr marL="0" indent="0">
              <a:buNone/>
            </a:pPr>
            <a:r>
              <a:rPr lang="es-ES" sz="2400" dirty="0"/>
              <a:t>{   </a:t>
            </a:r>
          </a:p>
          <a:p>
            <a:pPr marL="0" indent="0">
              <a:buNone/>
            </a:pPr>
            <a:r>
              <a:rPr lang="es-ES" sz="2400" dirty="0"/>
              <a:t>     // Código de la función    </a:t>
            </a:r>
          </a:p>
          <a:p>
            <a:pPr marL="0" indent="0">
              <a:buNone/>
            </a:pPr>
            <a:r>
              <a:rPr lang="es-ES" sz="2400" dirty="0"/>
              <a:t>    </a:t>
            </a:r>
            <a:r>
              <a:rPr lang="es-ES" sz="2400" dirty="0" err="1"/>
              <a:t>return</a:t>
            </a:r>
            <a:r>
              <a:rPr lang="es-ES" sz="2400" dirty="0"/>
              <a:t> valor;  // (si tiene retorno)</a:t>
            </a:r>
          </a:p>
          <a:p>
            <a:pPr marL="0" indent="0">
              <a:buNone/>
            </a:pPr>
            <a:r>
              <a:rPr lang="es-ES" sz="2400" dirty="0"/>
              <a:t>}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8720824" y="3161939"/>
            <a:ext cx="3064271" cy="1200329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marL="0" lvl="1"/>
            <a:r>
              <a:rPr lang="es-ES" dirty="0">
                <a:solidFill>
                  <a:schemeClr val="bg1"/>
                </a:solidFill>
              </a:rPr>
              <a:t>*Es recomendable escribir el nombre de los procedimientos con la primera letra en mayúsculas.</a:t>
            </a: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E1FCFBAD-0D70-295A-C468-C165290CDDEF}"/>
              </a:ext>
            </a:extLst>
          </p:cNvPr>
          <p:cNvSpPr txBox="1">
            <a:spLocks/>
          </p:cNvSpPr>
          <p:nvPr/>
        </p:nvSpPr>
        <p:spPr>
          <a:xfrm>
            <a:off x="838146" y="4015820"/>
            <a:ext cx="7665773" cy="19277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square" lIns="91440" tIns="45720" rIns="91440" bIns="45720" anchor="ctr" anchorCtr="0">
            <a:normAutofit/>
          </a:bodyPr>
          <a:lstStyle>
            <a:lvl1pPr marL="171461" marR="0" lvl="0" indent="-171461" algn="l" rtl="0" eaLnBrk="1" hangingPunct="1">
              <a:lnSpc>
                <a:spcPct val="90000"/>
              </a:lnSpc>
              <a:spcBef>
                <a:spcPts val="748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es-ES" sz="2105" b="0" i="0" u="none" strike="noStrike" kern="1200" cap="none" spc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1pPr>
            <a:lvl2pPr marL="514382" marR="0" lvl="1" indent="-171461" algn="l" rtl="0" eaLnBrk="1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es-ES" sz="1796" b="0" i="0" u="none" strike="noStrike" kern="1200" cap="none" spc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2pPr>
            <a:lvl3pPr marL="857304" marR="0" lvl="2" indent="-171461" algn="l" rtl="0" eaLnBrk="1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es-ES" sz="1506" b="0" i="0" u="none" strike="noStrike" kern="1200" cap="none" spc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3pPr>
            <a:lvl4pPr marL="1200226" marR="0" lvl="3" indent="-171461" algn="l" rtl="0" eaLnBrk="1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es-ES" sz="1352" b="0" i="0" u="none" strike="noStrike" kern="1200" cap="none" spc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4pPr>
            <a:lvl5pPr marL="1543146" marR="0" lvl="4" indent="-171461" algn="l" rtl="0" eaLnBrk="1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es-ES" sz="1352" b="0" i="0" u="none" strike="noStrike" kern="1200" cap="none" spc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5pPr>
            <a:lvl6pPr marL="2281245" indent="-207386" algn="l" defTabSz="829544" rtl="0" eaLnBrk="1" latinLnBrk="0" hangingPunct="1">
              <a:lnSpc>
                <a:spcPct val="90000"/>
              </a:lnSpc>
              <a:spcBef>
                <a:spcPts val="454"/>
              </a:spcBef>
              <a:buFont typeface="Arial" panose="020B0604020202020204" pitchFamily="34" charset="0"/>
              <a:buChar char="•"/>
              <a:defRPr sz="16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96017" indent="-207386" algn="l" defTabSz="829544" rtl="0" eaLnBrk="1" latinLnBrk="0" hangingPunct="1">
              <a:lnSpc>
                <a:spcPct val="90000"/>
              </a:lnSpc>
              <a:spcBef>
                <a:spcPts val="454"/>
              </a:spcBef>
              <a:buFont typeface="Arial" panose="020B0604020202020204" pitchFamily="34" charset="0"/>
              <a:buChar char="•"/>
              <a:defRPr sz="16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10789" indent="-207386" algn="l" defTabSz="829544" rtl="0" eaLnBrk="1" latinLnBrk="0" hangingPunct="1">
              <a:lnSpc>
                <a:spcPct val="90000"/>
              </a:lnSpc>
              <a:spcBef>
                <a:spcPts val="454"/>
              </a:spcBef>
              <a:buFont typeface="Arial" panose="020B0604020202020204" pitchFamily="34" charset="0"/>
              <a:buChar char="•"/>
              <a:defRPr sz="16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25561" indent="-207386" algn="l" defTabSz="829544" rtl="0" eaLnBrk="1" latinLnBrk="0" hangingPunct="1">
              <a:lnSpc>
                <a:spcPct val="90000"/>
              </a:lnSpc>
              <a:spcBef>
                <a:spcPts val="454"/>
              </a:spcBef>
              <a:buFont typeface="Arial" panose="020B0604020202020204" pitchFamily="34" charset="0"/>
              <a:buChar char="•"/>
              <a:defRPr sz="16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buNone/>
            </a:pPr>
            <a:r>
              <a:rPr lang="es-ES" sz="2400" dirty="0" err="1">
                <a:latin typeface="Consolas" panose="020B0609020204030204" pitchFamily="49" charset="0"/>
              </a:rPr>
              <a:t>void</a:t>
            </a:r>
            <a:r>
              <a:rPr lang="es-ES" sz="2400" dirty="0">
                <a:latin typeface="Consolas" panose="020B0609020204030204" pitchFamily="49" charset="0"/>
              </a:rPr>
              <a:t> </a:t>
            </a:r>
            <a:r>
              <a:rPr lang="es-ES" sz="2400" dirty="0" err="1">
                <a:latin typeface="Consolas" panose="020B0609020204030204" pitchFamily="49" charset="0"/>
              </a:rPr>
              <a:t>SaludarPersona</a:t>
            </a:r>
            <a:r>
              <a:rPr lang="es-ES" sz="2400" dirty="0">
                <a:latin typeface="Consolas" panose="020B0609020204030204" pitchFamily="49" charset="0"/>
              </a:rPr>
              <a:t>(</a:t>
            </a:r>
            <a:r>
              <a:rPr lang="es-ES" sz="2400" dirty="0" err="1">
                <a:latin typeface="Consolas" panose="020B0609020204030204" pitchFamily="49" charset="0"/>
              </a:rPr>
              <a:t>string</a:t>
            </a:r>
            <a:r>
              <a:rPr lang="es-ES" sz="2400" dirty="0">
                <a:latin typeface="Consolas" panose="020B0609020204030204" pitchFamily="49" charset="0"/>
              </a:rPr>
              <a:t> nombre)</a:t>
            </a:r>
          </a:p>
          <a:p>
            <a:pPr marL="0" lvl="1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{    </a:t>
            </a:r>
          </a:p>
          <a:p>
            <a:pPr marL="0" lvl="1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    </a:t>
            </a:r>
            <a:r>
              <a:rPr lang="es-ES" sz="2400" dirty="0" err="1">
                <a:latin typeface="Consolas" panose="020B0609020204030204" pitchFamily="49" charset="0"/>
              </a:rPr>
              <a:t>Console.WriteLine</a:t>
            </a:r>
            <a:r>
              <a:rPr lang="es-ES" sz="2400" dirty="0">
                <a:latin typeface="Consolas" panose="020B0609020204030204" pitchFamily="49" charset="0"/>
              </a:rPr>
              <a:t>("Hola " + nombre);</a:t>
            </a:r>
          </a:p>
          <a:p>
            <a:pPr marL="0" lvl="1" indent="0">
              <a:buNone/>
            </a:pPr>
            <a:r>
              <a:rPr lang="es-ES" sz="24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807458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Métodos II: Parámetros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Al pasar argumentos a un procedimiento, podemos pasarlos por valor(no hace falta poner nada) o por referencia(</a:t>
            </a:r>
            <a:r>
              <a:rPr lang="es-ES" dirty="0" err="1"/>
              <a:t>ref</a:t>
            </a:r>
            <a:r>
              <a:rPr lang="es-ES" dirty="0"/>
              <a:t>).</a:t>
            </a:r>
          </a:p>
          <a:p>
            <a:r>
              <a:rPr lang="es-ES" dirty="0"/>
              <a:t>Por defecto se mandan por valor. Es decir, si cambia en el procedimiento, no cambia en el programa.</a:t>
            </a:r>
          </a:p>
          <a:p>
            <a:pPr marL="0" indent="0">
              <a:buNone/>
            </a:pPr>
            <a:endParaRPr lang="es-ES" dirty="0"/>
          </a:p>
          <a:p>
            <a:r>
              <a:rPr lang="es-ES" dirty="0"/>
              <a:t>También podemos usar parámetros opcionales. Para ello tendremos que darle un valor por defecto al parámetro. Los parámetros opcionales tienen que ir al final.</a:t>
            </a:r>
          </a:p>
          <a:p>
            <a:endParaRPr lang="es-ES" dirty="0"/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double </a:t>
            </a:r>
            <a:r>
              <a:rPr lang="en-US" sz="1800" dirty="0" err="1">
                <a:latin typeface="Consolas" panose="020B0609020204030204" pitchFamily="49" charset="0"/>
              </a:rPr>
              <a:t>CalcularArea</a:t>
            </a:r>
            <a:r>
              <a:rPr lang="en-US" sz="1800" dirty="0">
                <a:latin typeface="Consolas" panose="020B0609020204030204" pitchFamily="49" charset="0"/>
              </a:rPr>
              <a:t> (double lado1, double lado2 = 0)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return (</a:t>
            </a:r>
            <a:r>
              <a:rPr lang="es-ES" sz="1800" dirty="0">
                <a:latin typeface="Consolas" panose="020B0609020204030204" pitchFamily="49" charset="0"/>
              </a:rPr>
              <a:t>(lado2 == 0) ? Lado1*lado1 : lado1*lado2;</a:t>
            </a: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8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245460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Métodos III: Accesibilidad</a:t>
            </a:r>
          </a:p>
        </p:txBody>
      </p:sp>
      <p:pic>
        <p:nvPicPr>
          <p:cNvPr id="4" name="Imagen 3" descr="Recorte de pantall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86"/>
          <a:stretch>
            <a:fillRect/>
          </a:stretch>
        </p:blipFill>
        <p:spPr>
          <a:xfrm>
            <a:off x="2472239" y="1942498"/>
            <a:ext cx="7247197" cy="3904401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1378641" y="6098665"/>
            <a:ext cx="9359027" cy="40011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chemeClr val="bg1"/>
                </a:solidFill>
              </a:rPr>
              <a:t>*De forma predeterminada todos los procedimientos son </a:t>
            </a:r>
            <a:r>
              <a:rPr lang="es-ES" sz="2000" dirty="0" err="1">
                <a:solidFill>
                  <a:schemeClr val="bg1"/>
                </a:solidFill>
              </a:rPr>
              <a:t>Public</a:t>
            </a:r>
            <a:endParaRPr lang="es-E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50500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99D2FB-8B1B-B4D5-02D8-D7C2F96FE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2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126FD9-C35D-D59E-EBE1-A9C8929F2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 rtl="0">
              <a:lnSpc>
                <a:spcPct val="150000"/>
              </a:lnSpc>
              <a:buNone/>
            </a:pPr>
            <a:r>
              <a:rPr lang="es-ES" sz="2400" dirty="0">
                <a:effectLst/>
                <a:latin typeface="Arial, sans-serif"/>
              </a:rPr>
              <a:t>Realizar un programa que a través de un menú permita realizar las operaciones de sumar, restar, multiplicar, dividir y salir. Las operaciones constarán solamente de dos operandos y cada una tendrá su propio procedimiento.</a:t>
            </a:r>
            <a:endParaRPr lang="es-ES" sz="2400" dirty="0">
              <a:effectLst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617329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Arrays</a:t>
            </a:r>
            <a:r>
              <a:rPr lang="es-ES" dirty="0"/>
              <a:t> estáticos unidimensionales I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Para declarar un array usamos esta instrucción:</a:t>
            </a:r>
          </a:p>
          <a:p>
            <a:pPr marL="0" indent="0">
              <a:buNone/>
              <a:tabLst>
                <a:tab pos="3233738" algn="l"/>
              </a:tabLst>
            </a:pPr>
            <a:r>
              <a:rPr lang="es-ES" dirty="0"/>
              <a:t>	tipo[] nombre;</a:t>
            </a:r>
          </a:p>
          <a:p>
            <a:r>
              <a:rPr lang="es-ES" dirty="0"/>
              <a:t>Estas instrucciones no reservan espacio en memoria. Para hacerlo tenemos que darle una dimensión al array.</a:t>
            </a:r>
          </a:p>
          <a:p>
            <a:pPr marL="0" indent="0">
              <a:buNone/>
              <a:tabLst>
                <a:tab pos="1077913" algn="l"/>
              </a:tabLst>
            </a:pPr>
            <a:r>
              <a:rPr lang="es-ES" dirty="0"/>
              <a:t>	Declararlo con tamaño: tipo[] nombre = new tipo[tamaño];</a:t>
            </a:r>
          </a:p>
          <a:p>
            <a:pPr marL="0" indent="0">
              <a:buNone/>
              <a:tabLst>
                <a:tab pos="1077913" algn="l"/>
                <a:tab pos="3411538" algn="l"/>
              </a:tabLst>
            </a:pPr>
            <a:r>
              <a:rPr lang="es-ES" dirty="0"/>
              <a:t>	Declararlo con valores: tipo[] nombre = new tipo[] {valor1, valor2,…};</a:t>
            </a:r>
          </a:p>
        </p:txBody>
      </p:sp>
    </p:spTree>
    <p:extLst>
      <p:ext uri="{BB962C8B-B14F-4D97-AF65-F5344CB8AC3E}">
        <p14:creationId xmlns:p14="http://schemas.microsoft.com/office/powerpoint/2010/main" val="13715675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Arrays</a:t>
            </a:r>
            <a:r>
              <a:rPr lang="es-ES" dirty="0"/>
              <a:t> estáticos unidimensionales II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" dirty="0" err="1">
                <a:latin typeface="Consolas" panose="020B0609020204030204" pitchFamily="49" charset="0"/>
              </a:rPr>
              <a:t>int</a:t>
            </a:r>
            <a:r>
              <a:rPr lang="es-ES" dirty="0">
                <a:latin typeface="Consolas" panose="020B0609020204030204" pitchFamily="49" charset="0"/>
              </a:rPr>
              <a:t>[] array1; //no se puede usar porque no esta inicializado</a:t>
            </a:r>
          </a:p>
          <a:p>
            <a:pPr>
              <a:lnSpc>
                <a:spcPct val="150000"/>
              </a:lnSpc>
            </a:pPr>
            <a:r>
              <a:rPr lang="es-ES" dirty="0" err="1">
                <a:latin typeface="Consolas" panose="020B0609020204030204" pitchFamily="49" charset="0"/>
              </a:rPr>
              <a:t>string</a:t>
            </a:r>
            <a:r>
              <a:rPr lang="es-ES" dirty="0">
                <a:latin typeface="Consolas" panose="020B0609020204030204" pitchFamily="49" charset="0"/>
              </a:rPr>
              <a:t>[] meses = new </a:t>
            </a:r>
            <a:r>
              <a:rPr lang="es-ES" dirty="0" err="1">
                <a:latin typeface="Consolas" panose="020B0609020204030204" pitchFamily="49" charset="0"/>
              </a:rPr>
              <a:t>string</a:t>
            </a:r>
            <a:r>
              <a:rPr lang="es-ES" dirty="0">
                <a:latin typeface="Consolas" panose="020B0609020204030204" pitchFamily="49" charset="0"/>
              </a:rPr>
              <a:t>[11];</a:t>
            </a:r>
          </a:p>
          <a:p>
            <a:pPr>
              <a:lnSpc>
                <a:spcPct val="150000"/>
              </a:lnSpc>
            </a:pPr>
            <a:r>
              <a:rPr lang="es-ES" dirty="0" err="1">
                <a:latin typeface="Consolas" panose="020B0609020204030204" pitchFamily="49" charset="0"/>
              </a:rPr>
              <a:t>int</a:t>
            </a:r>
            <a:r>
              <a:rPr lang="es-ES" dirty="0">
                <a:latin typeface="Consolas" panose="020B0609020204030204" pitchFamily="49" charset="0"/>
              </a:rPr>
              <a:t> array2 = new </a:t>
            </a:r>
            <a:r>
              <a:rPr lang="es-ES" dirty="0" err="1">
                <a:latin typeface="Consolas" panose="020B0609020204030204" pitchFamily="49" charset="0"/>
              </a:rPr>
              <a:t>int</a:t>
            </a:r>
            <a:r>
              <a:rPr lang="es-ES" dirty="0">
                <a:latin typeface="Consolas" panose="020B0609020204030204" pitchFamily="49" charset="0"/>
              </a:rPr>
              <a:t>[31];</a:t>
            </a:r>
          </a:p>
          <a:p>
            <a:pPr>
              <a:lnSpc>
                <a:spcPct val="150000"/>
              </a:lnSpc>
            </a:pPr>
            <a:r>
              <a:rPr lang="es-ES" dirty="0" err="1">
                <a:latin typeface="Consolas" panose="020B0609020204030204" pitchFamily="49" charset="0"/>
              </a:rPr>
              <a:t>int</a:t>
            </a:r>
            <a:r>
              <a:rPr lang="es-ES" dirty="0">
                <a:latin typeface="Consolas" panose="020B0609020204030204" pitchFamily="49" charset="0"/>
              </a:rPr>
              <a:t> array3 = new </a:t>
            </a:r>
            <a:r>
              <a:rPr lang="es-ES" dirty="0" err="1">
                <a:latin typeface="Consolas" panose="020B0609020204030204" pitchFamily="49" charset="0"/>
              </a:rPr>
              <a:t>int</a:t>
            </a:r>
            <a:r>
              <a:rPr lang="es-ES" dirty="0">
                <a:latin typeface="Consolas" panose="020B0609020204030204" pitchFamily="49" charset="0"/>
              </a:rPr>
              <a:t>[] {1,1,2,3,5,8,13,21}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033548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Arrays</a:t>
            </a:r>
            <a:r>
              <a:rPr lang="es-ES" dirty="0"/>
              <a:t> multidimensionales I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Básicamente funcionan como los </a:t>
            </a:r>
            <a:r>
              <a:rPr lang="es-ES" dirty="0" err="1"/>
              <a:t>arrays</a:t>
            </a:r>
            <a:r>
              <a:rPr lang="es-ES" dirty="0"/>
              <a:t> unidimensionales, pero se pone una coma por cada dimensión del array. Para declararlo:</a:t>
            </a:r>
          </a:p>
          <a:p>
            <a:pPr marL="0" indent="0">
              <a:buNone/>
              <a:tabLst>
                <a:tab pos="900113" algn="l"/>
              </a:tabLst>
            </a:pPr>
            <a:r>
              <a:rPr lang="es-ES" dirty="0"/>
              <a:t>	tipo[,] nombre;</a:t>
            </a:r>
          </a:p>
          <a:p>
            <a:pPr marL="0" indent="0">
              <a:buNone/>
              <a:tabLst>
                <a:tab pos="900113" algn="l"/>
              </a:tabLst>
            </a:pPr>
            <a:endParaRPr lang="es-ES" dirty="0"/>
          </a:p>
          <a:p>
            <a:pPr>
              <a:tabLst>
                <a:tab pos="900113" algn="l"/>
              </a:tabLst>
            </a:pPr>
            <a:r>
              <a:rPr lang="es-ES" dirty="0"/>
              <a:t>Para reservar espacio en memoria:</a:t>
            </a:r>
          </a:p>
          <a:p>
            <a:pPr marL="0" indent="0">
              <a:buNone/>
              <a:tabLst>
                <a:tab pos="900113" algn="l"/>
              </a:tabLst>
            </a:pPr>
            <a:r>
              <a:rPr lang="es-ES" dirty="0"/>
              <a:t>		tipo[,] nombre = new tipo [tamaño1, tamaño2];</a:t>
            </a:r>
          </a:p>
          <a:p>
            <a:pPr marL="0" indent="0">
              <a:buNone/>
              <a:tabLst>
                <a:tab pos="900113" algn="l"/>
              </a:tabLst>
            </a:pPr>
            <a:r>
              <a:rPr lang="es-ES" dirty="0"/>
              <a:t>		tipo[,] nombre = new tipo [tamaño1, tamaño2] {{valor1, valor2}, {valor3,valor4},…};</a:t>
            </a:r>
          </a:p>
          <a:p>
            <a:pPr marL="0" indent="0">
              <a:buNone/>
              <a:tabLst>
                <a:tab pos="900113" algn="l"/>
              </a:tabLst>
            </a:pPr>
            <a:endParaRPr lang="es-ES" dirty="0"/>
          </a:p>
          <a:p>
            <a:pPr>
              <a:tabLst>
                <a:tab pos="900113" algn="l"/>
              </a:tabLst>
            </a:pPr>
            <a:r>
              <a:rPr lang="es-ES" dirty="0"/>
              <a:t>Para saber el tamaño de cada nivel de la matriz podemos usar su método </a:t>
            </a:r>
            <a:r>
              <a:rPr lang="es-ES" dirty="0" err="1"/>
              <a:t>nombreArray.GetLenght</a:t>
            </a:r>
            <a:r>
              <a:rPr lang="es-ES" dirty="0"/>
              <a:t>(nivel)</a:t>
            </a:r>
          </a:p>
          <a:p>
            <a:pPr marL="0" indent="0">
              <a:buNone/>
              <a:tabLst>
                <a:tab pos="900113" algn="l"/>
              </a:tabLst>
            </a:pPr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662368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Arrays</a:t>
            </a:r>
            <a:r>
              <a:rPr lang="es-ES" dirty="0"/>
              <a:t> multidimensionales II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" dirty="0" err="1">
                <a:latin typeface="Consolas" panose="020B0609020204030204" pitchFamily="49" charset="0"/>
              </a:rPr>
              <a:t>int</a:t>
            </a:r>
            <a:r>
              <a:rPr lang="es-ES" dirty="0">
                <a:latin typeface="Consolas" panose="020B0609020204030204" pitchFamily="49" charset="0"/>
              </a:rPr>
              <a:t>[,] matriz1;</a:t>
            </a:r>
          </a:p>
          <a:p>
            <a:pPr>
              <a:lnSpc>
                <a:spcPct val="150000"/>
              </a:lnSpc>
            </a:pPr>
            <a:r>
              <a:rPr lang="es-ES" dirty="0" err="1">
                <a:latin typeface="Consolas" panose="020B0609020204030204" pitchFamily="49" charset="0"/>
              </a:rPr>
              <a:t>string</a:t>
            </a:r>
            <a:r>
              <a:rPr lang="es-ES" dirty="0">
                <a:latin typeface="Consolas" panose="020B0609020204030204" pitchFamily="49" charset="0"/>
              </a:rPr>
              <a:t>[,] </a:t>
            </a:r>
            <a:r>
              <a:rPr lang="es-ES" dirty="0" err="1">
                <a:latin typeface="Consolas" panose="020B0609020204030204" pitchFamily="49" charset="0"/>
              </a:rPr>
              <a:t>alumnadoDAM</a:t>
            </a:r>
            <a:r>
              <a:rPr lang="es-ES" dirty="0">
                <a:latin typeface="Consolas" panose="020B0609020204030204" pitchFamily="49" charset="0"/>
              </a:rPr>
              <a:t> = new </a:t>
            </a:r>
            <a:r>
              <a:rPr lang="es-ES" dirty="0" err="1">
                <a:latin typeface="Consolas" panose="020B0609020204030204" pitchFamily="49" charset="0"/>
              </a:rPr>
              <a:t>String</a:t>
            </a:r>
            <a:r>
              <a:rPr lang="es-ES" dirty="0">
                <a:latin typeface="Consolas" panose="020B0609020204030204" pitchFamily="49" charset="0"/>
              </a:rPr>
              <a:t>[3,25];</a:t>
            </a:r>
          </a:p>
          <a:p>
            <a:pPr>
              <a:lnSpc>
                <a:spcPct val="150000"/>
              </a:lnSpc>
            </a:pPr>
            <a:r>
              <a:rPr lang="es-ES" dirty="0" err="1">
                <a:latin typeface="Consolas" panose="020B0609020204030204" pitchFamily="49" charset="0"/>
              </a:rPr>
              <a:t>int</a:t>
            </a:r>
            <a:r>
              <a:rPr lang="es-ES" dirty="0">
                <a:latin typeface="Consolas" panose="020B0609020204030204" pitchFamily="49" charset="0"/>
              </a:rPr>
              <a:t>[,] matriz2 = new </a:t>
            </a:r>
            <a:r>
              <a:rPr lang="es-ES" dirty="0" err="1">
                <a:latin typeface="Consolas" panose="020B0609020204030204" pitchFamily="49" charset="0"/>
              </a:rPr>
              <a:t>int</a:t>
            </a:r>
            <a:r>
              <a:rPr lang="es-ES" dirty="0">
                <a:latin typeface="Consolas" panose="020B0609020204030204" pitchFamily="49" charset="0"/>
              </a:rPr>
              <a:t>[5,5];</a:t>
            </a:r>
          </a:p>
          <a:p>
            <a:pPr>
              <a:lnSpc>
                <a:spcPct val="150000"/>
              </a:lnSpc>
            </a:pPr>
            <a:r>
              <a:rPr lang="es-ES" dirty="0" err="1">
                <a:latin typeface="Consolas" panose="020B0609020204030204" pitchFamily="49" charset="0"/>
              </a:rPr>
              <a:t>int</a:t>
            </a:r>
            <a:r>
              <a:rPr lang="es-ES" dirty="0">
                <a:latin typeface="Consolas" panose="020B0609020204030204" pitchFamily="49" charset="0"/>
              </a:rPr>
              <a:t>[,] matriz3 = new </a:t>
            </a:r>
            <a:r>
              <a:rPr lang="es-ES" dirty="0" err="1">
                <a:latin typeface="Consolas" panose="020B0609020204030204" pitchFamily="49" charset="0"/>
              </a:rPr>
              <a:t>int</a:t>
            </a:r>
            <a:r>
              <a:rPr lang="es-ES" dirty="0">
                <a:latin typeface="Consolas" panose="020B0609020204030204" pitchFamily="49" charset="0"/>
              </a:rPr>
              <a:t>[,] {{1,1}{2,1}{3,1}{4,1}};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651084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Matrices escalonadas I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Cuando la estructura de datos es bidimensional, pero no rectangular se usan matrices escalonadas. Por ejemplo, para recoger la temperatura más alta en cada día del mes en un año.</a:t>
            </a:r>
          </a:p>
          <a:p>
            <a:r>
              <a:rPr lang="es-ES" dirty="0"/>
              <a:t>Para crear una matriz escalonada usamos para declararlo:</a:t>
            </a:r>
          </a:p>
          <a:p>
            <a:pPr marL="0" indent="0">
              <a:buNone/>
              <a:tabLst>
                <a:tab pos="900113" algn="l"/>
              </a:tabLst>
            </a:pPr>
            <a:r>
              <a:rPr lang="es-ES" dirty="0"/>
              <a:t>	tipo[][] nombre;</a:t>
            </a:r>
          </a:p>
          <a:p>
            <a:pPr marL="0" indent="0">
              <a:buNone/>
              <a:tabLst>
                <a:tab pos="900113" algn="l"/>
              </a:tabLst>
            </a:pPr>
            <a:endParaRPr lang="es-ES" dirty="0"/>
          </a:p>
          <a:p>
            <a:pPr>
              <a:tabLst>
                <a:tab pos="900113" algn="l"/>
              </a:tabLst>
            </a:pPr>
            <a:r>
              <a:rPr lang="es-ES" dirty="0"/>
              <a:t>Y para reservar espacio:</a:t>
            </a:r>
          </a:p>
          <a:p>
            <a:pPr marL="0" indent="0">
              <a:buNone/>
              <a:tabLst>
                <a:tab pos="900113" algn="l"/>
              </a:tabLst>
            </a:pPr>
            <a:r>
              <a:rPr lang="es-ES" dirty="0"/>
              <a:t>		tipo[][] nombre = new tipo[tamaño][]</a:t>
            </a:r>
          </a:p>
          <a:p>
            <a:pPr marL="0" indent="0">
              <a:buNone/>
              <a:tabLst>
                <a:tab pos="900113" algn="l"/>
              </a:tabLst>
            </a:pPr>
            <a:r>
              <a:rPr lang="es-ES" dirty="0"/>
              <a:t>		</a:t>
            </a:r>
          </a:p>
          <a:p>
            <a:r>
              <a:rPr lang="es-ES" dirty="0"/>
              <a:t>En las matrices escalonadas al usar el método </a:t>
            </a:r>
            <a:r>
              <a:rPr lang="es-ES" dirty="0" err="1"/>
              <a:t>array.GetLenght</a:t>
            </a:r>
            <a:r>
              <a:rPr lang="es-ES" dirty="0"/>
              <a:t>(1) nos dará una excepción porque el tamaño de la segunda dimensión no es constante.</a:t>
            </a:r>
          </a:p>
        </p:txBody>
      </p:sp>
    </p:spTree>
    <p:extLst>
      <p:ext uri="{BB962C8B-B14F-4D97-AF65-F5344CB8AC3E}">
        <p14:creationId xmlns:p14="http://schemas.microsoft.com/office/powerpoint/2010/main" val="909986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Matrices escalonadas II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2160589"/>
            <a:ext cx="10183954" cy="388077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" dirty="0" err="1">
                <a:latin typeface="Consolas" panose="020B0609020204030204" pitchFamily="49" charset="0"/>
              </a:rPr>
              <a:t>int</a:t>
            </a:r>
            <a:r>
              <a:rPr lang="es-ES" dirty="0">
                <a:latin typeface="Consolas" panose="020B0609020204030204" pitchFamily="49" charset="0"/>
              </a:rPr>
              <a:t>[][] matriz1;</a:t>
            </a:r>
          </a:p>
          <a:p>
            <a:pPr>
              <a:lnSpc>
                <a:spcPct val="150000"/>
              </a:lnSpc>
            </a:pPr>
            <a:r>
              <a:rPr lang="es-ES" dirty="0" err="1">
                <a:latin typeface="Consolas" panose="020B0609020204030204" pitchFamily="49" charset="0"/>
              </a:rPr>
              <a:t>int</a:t>
            </a:r>
            <a:r>
              <a:rPr lang="es-ES" dirty="0">
                <a:latin typeface="Consolas" panose="020B0609020204030204" pitchFamily="49" charset="0"/>
              </a:rPr>
              <a:t>[][] matriz2 = new </a:t>
            </a:r>
            <a:r>
              <a:rPr lang="es-ES" dirty="0" err="1">
                <a:latin typeface="Consolas" panose="020B0609020204030204" pitchFamily="49" charset="0"/>
              </a:rPr>
              <a:t>int</a:t>
            </a:r>
            <a:r>
              <a:rPr lang="es-ES" dirty="0">
                <a:latin typeface="Consolas" panose="020B0609020204030204" pitchFamily="49" charset="0"/>
              </a:rPr>
              <a:t>[12][];</a:t>
            </a:r>
          </a:p>
          <a:p>
            <a:pPr>
              <a:lnSpc>
                <a:spcPct val="150000"/>
              </a:lnSpc>
            </a:pPr>
            <a:r>
              <a:rPr lang="es-ES" dirty="0" err="1">
                <a:latin typeface="Consolas" panose="020B0609020204030204" pitchFamily="49" charset="0"/>
              </a:rPr>
              <a:t>int</a:t>
            </a:r>
            <a:r>
              <a:rPr lang="es-ES" dirty="0">
                <a:latin typeface="Consolas" panose="020B0609020204030204" pitchFamily="49" charset="0"/>
              </a:rPr>
              <a:t>[][] matriz3 = new </a:t>
            </a:r>
            <a:r>
              <a:rPr lang="es-ES" dirty="0" err="1">
                <a:latin typeface="Consolas" panose="020B0609020204030204" pitchFamily="49" charset="0"/>
              </a:rPr>
              <a:t>int</a:t>
            </a:r>
            <a:r>
              <a:rPr lang="es-ES" dirty="0">
                <a:latin typeface="Consolas" panose="020B0609020204030204" pitchFamily="49" charset="0"/>
              </a:rPr>
              <a:t>[2][];</a:t>
            </a:r>
          </a:p>
          <a:p>
            <a:pPr>
              <a:lnSpc>
                <a:spcPct val="150000"/>
              </a:lnSpc>
            </a:pPr>
            <a:r>
              <a:rPr lang="es-ES" dirty="0">
                <a:latin typeface="Consolas" panose="020B0609020204030204" pitchFamily="49" charset="0"/>
              </a:rPr>
              <a:t>matriz3[0] = new </a:t>
            </a:r>
            <a:r>
              <a:rPr lang="es-ES" dirty="0" err="1">
                <a:latin typeface="Consolas" panose="020B0609020204030204" pitchFamily="49" charset="0"/>
              </a:rPr>
              <a:t>int</a:t>
            </a:r>
            <a:r>
              <a:rPr lang="es-ES" dirty="0">
                <a:latin typeface="Consolas" panose="020B0609020204030204" pitchFamily="49" charset="0"/>
              </a:rPr>
              <a:t>[31];</a:t>
            </a:r>
          </a:p>
          <a:p>
            <a:pPr>
              <a:lnSpc>
                <a:spcPct val="150000"/>
              </a:lnSpc>
            </a:pPr>
            <a:r>
              <a:rPr lang="es-ES" dirty="0">
                <a:latin typeface="Consolas" panose="020B0609020204030204" pitchFamily="49" charset="0"/>
              </a:rPr>
              <a:t>matriz3[1] = new </a:t>
            </a:r>
            <a:r>
              <a:rPr lang="es-ES" dirty="0" err="1">
                <a:latin typeface="Consolas" panose="020B0609020204030204" pitchFamily="49" charset="0"/>
              </a:rPr>
              <a:t>int</a:t>
            </a:r>
            <a:r>
              <a:rPr lang="es-ES" dirty="0">
                <a:latin typeface="Consolas" panose="020B0609020204030204" pitchFamily="49" charset="0"/>
              </a:rPr>
              <a:t>[28];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336636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Métodos de los </a:t>
            </a:r>
            <a:r>
              <a:rPr lang="es-ES" dirty="0" err="1"/>
              <a:t>arrays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La clase array tiene diferentes propiedades y métodos:</a:t>
            </a:r>
          </a:p>
          <a:p>
            <a:endParaRPr lang="es-ES" sz="2400" dirty="0"/>
          </a:p>
          <a:p>
            <a:pPr lvl="1"/>
            <a:r>
              <a:rPr lang="es-ES" sz="1800" dirty="0"/>
              <a:t>Conocer el tamaño: </a:t>
            </a:r>
            <a:r>
              <a:rPr lang="es-ES" sz="1800" dirty="0" err="1"/>
              <a:t>nombreArray.Lenght</a:t>
            </a:r>
            <a:endParaRPr lang="es-ES" sz="1800" dirty="0"/>
          </a:p>
          <a:p>
            <a:pPr lvl="1"/>
            <a:r>
              <a:rPr lang="es-ES" sz="1800" dirty="0"/>
              <a:t>Invertir el array: </a:t>
            </a:r>
            <a:r>
              <a:rPr lang="es-ES" sz="1800" dirty="0" err="1"/>
              <a:t>Array.Reverse</a:t>
            </a:r>
            <a:r>
              <a:rPr lang="es-ES" sz="1800" dirty="0"/>
              <a:t>(</a:t>
            </a:r>
            <a:r>
              <a:rPr lang="es-ES" sz="1800" dirty="0" err="1"/>
              <a:t>nombreArray</a:t>
            </a:r>
            <a:r>
              <a:rPr lang="es-ES" sz="1800" dirty="0"/>
              <a:t>)</a:t>
            </a:r>
          </a:p>
          <a:p>
            <a:pPr lvl="1"/>
            <a:r>
              <a:rPr lang="es-ES" sz="1800" dirty="0"/>
              <a:t>Ordenar el array: </a:t>
            </a:r>
            <a:r>
              <a:rPr lang="es-ES" sz="1800" dirty="0" err="1"/>
              <a:t>Array.Sort</a:t>
            </a:r>
            <a:r>
              <a:rPr lang="es-ES" sz="1800" dirty="0"/>
              <a:t>(</a:t>
            </a:r>
            <a:r>
              <a:rPr lang="es-ES" sz="1800" dirty="0" err="1"/>
              <a:t>nombreArray</a:t>
            </a:r>
            <a:r>
              <a:rPr lang="es-ES" sz="1800" dirty="0"/>
              <a:t>)</a:t>
            </a:r>
          </a:p>
          <a:p>
            <a:pPr lvl="1"/>
            <a:r>
              <a:rPr lang="es-ES" sz="1800" dirty="0"/>
              <a:t>Busca el valor y devuelve la posición: </a:t>
            </a:r>
            <a:r>
              <a:rPr lang="es-ES" sz="1800" dirty="0" err="1"/>
              <a:t>Array.IndexOf</a:t>
            </a:r>
            <a:r>
              <a:rPr lang="es-ES" sz="1800" dirty="0"/>
              <a:t>(</a:t>
            </a:r>
            <a:r>
              <a:rPr lang="es-ES" sz="1800" dirty="0" err="1"/>
              <a:t>nombreArray</a:t>
            </a:r>
            <a:r>
              <a:rPr lang="es-ES" sz="1800" dirty="0"/>
              <a:t>, valor)</a:t>
            </a:r>
          </a:p>
          <a:p>
            <a:pPr lvl="1"/>
            <a:r>
              <a:rPr lang="es-ES" sz="1800" dirty="0"/>
              <a:t>Copiar el array: </a:t>
            </a:r>
            <a:r>
              <a:rPr lang="es-ES" sz="1800" dirty="0" err="1"/>
              <a:t>Array.CopyTo</a:t>
            </a:r>
            <a:r>
              <a:rPr lang="es-ES" sz="1800" dirty="0"/>
              <a:t>(</a:t>
            </a:r>
            <a:r>
              <a:rPr lang="es-ES" sz="1800" dirty="0" err="1"/>
              <a:t>arrayOrigen</a:t>
            </a:r>
            <a:r>
              <a:rPr lang="es-ES" sz="1800" dirty="0"/>
              <a:t>, </a:t>
            </a:r>
            <a:r>
              <a:rPr lang="es-ES" sz="1800" dirty="0" err="1"/>
              <a:t>arrayDestino</a:t>
            </a:r>
            <a:r>
              <a:rPr lang="es-ES" sz="1800" dirty="0"/>
              <a:t>, posición)</a:t>
            </a:r>
          </a:p>
          <a:p>
            <a:pPr lvl="1"/>
            <a:r>
              <a:rPr lang="es-ES" sz="1800" dirty="0"/>
              <a:t>Limpia valores: </a:t>
            </a:r>
            <a:r>
              <a:rPr lang="es-ES" sz="1800" dirty="0" err="1"/>
              <a:t>Array.Clear</a:t>
            </a:r>
            <a:r>
              <a:rPr lang="es-ES" sz="1800" dirty="0"/>
              <a:t>(</a:t>
            </a:r>
            <a:r>
              <a:rPr lang="es-ES" sz="1800" dirty="0" err="1"/>
              <a:t>nombreArray</a:t>
            </a:r>
            <a:r>
              <a:rPr lang="es-ES" sz="1800" dirty="0"/>
              <a:t>, inicio, cantidad)</a:t>
            </a:r>
          </a:p>
          <a:p>
            <a:pPr marL="342921" lvl="1" indent="0">
              <a:buNone/>
            </a:pPr>
            <a:endParaRPr lang="es-ES" sz="1800" dirty="0"/>
          </a:p>
          <a:p>
            <a:r>
              <a:rPr lang="es-ES" sz="2400" dirty="0"/>
              <a:t>Podéis encontrar más en:</a:t>
            </a:r>
          </a:p>
          <a:p>
            <a:pPr lvl="1"/>
            <a:r>
              <a:rPr lang="es-ES" sz="2091" dirty="0">
                <a:hlinkClick r:id="rId2"/>
              </a:rPr>
              <a:t>https://learn.microsoft.com/en-us/dotnet/api/system.array?view=net-9.0</a:t>
            </a:r>
            <a:endParaRPr lang="es-ES" sz="2091" dirty="0"/>
          </a:p>
        </p:txBody>
      </p:sp>
    </p:spTree>
    <p:extLst>
      <p:ext uri="{BB962C8B-B14F-4D97-AF65-F5344CB8AC3E}">
        <p14:creationId xmlns:p14="http://schemas.microsoft.com/office/powerpoint/2010/main" val="361986353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Arrays</a:t>
            </a:r>
            <a:r>
              <a:rPr lang="es-ES" dirty="0"/>
              <a:t> dinámicos o colecciones: listas I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Las colecciones pueden aumentar y reducirse de manera dinámica, no tienen un tamaño fijo.</a:t>
            </a:r>
          </a:p>
          <a:p>
            <a:r>
              <a:rPr lang="es-ES" sz="2400" dirty="0"/>
              <a:t>Dentro de las colecciones se encuentran las listas.</a:t>
            </a:r>
          </a:p>
          <a:p>
            <a:endParaRPr lang="es-ES" sz="2400" dirty="0"/>
          </a:p>
          <a:p>
            <a:r>
              <a:rPr lang="es-ES" sz="2400" dirty="0"/>
              <a:t>Para crearlos podemos hacerlo de las siguientes maneras:</a:t>
            </a:r>
          </a:p>
          <a:p>
            <a:pPr marL="457200" lvl="1" indent="0">
              <a:buNone/>
              <a:tabLst>
                <a:tab pos="1254125" algn="l"/>
              </a:tabLst>
            </a:pPr>
            <a:r>
              <a:rPr lang="es-ES" sz="1800" dirty="0"/>
              <a:t>	</a:t>
            </a:r>
            <a:r>
              <a:rPr lang="es-ES" sz="2400" dirty="0" err="1"/>
              <a:t>List</a:t>
            </a:r>
            <a:r>
              <a:rPr lang="es-ES" sz="2400" dirty="0"/>
              <a:t>&lt;tipo&gt; nombre = new </a:t>
            </a:r>
            <a:r>
              <a:rPr lang="es-ES" sz="2400" dirty="0" err="1"/>
              <a:t>List</a:t>
            </a:r>
            <a:r>
              <a:rPr lang="es-ES" sz="2400" dirty="0"/>
              <a:t>&lt;tipo&gt; ();</a:t>
            </a:r>
          </a:p>
          <a:p>
            <a:pPr marL="457200" lvl="1" indent="0">
              <a:buNone/>
              <a:tabLst>
                <a:tab pos="1254125" algn="l"/>
              </a:tabLst>
            </a:pPr>
            <a:r>
              <a:rPr lang="es-ES" sz="2400" dirty="0"/>
              <a:t>	</a:t>
            </a:r>
            <a:r>
              <a:rPr lang="es-ES" sz="2400" dirty="0" err="1"/>
              <a:t>List</a:t>
            </a:r>
            <a:r>
              <a:rPr lang="es-ES" sz="2400" dirty="0"/>
              <a:t>&lt;tipo&gt; nombre = new </a:t>
            </a:r>
            <a:r>
              <a:rPr lang="es-ES" sz="2400" dirty="0" err="1"/>
              <a:t>List</a:t>
            </a:r>
            <a:r>
              <a:rPr lang="es-ES" sz="2400" dirty="0"/>
              <a:t>&lt;tipo&gt; {valor1, valor2, valor3…}</a:t>
            </a:r>
          </a:p>
          <a:p>
            <a:pPr marL="342921" lvl="1" indent="0">
              <a:buNone/>
              <a:tabLst>
                <a:tab pos="1787525" algn="l"/>
              </a:tabLst>
            </a:pPr>
            <a:endParaRPr lang="es-ES" sz="1800" dirty="0"/>
          </a:p>
          <a:p>
            <a:pPr marL="0" indent="0">
              <a:buNone/>
            </a:pPr>
            <a:endParaRPr lang="es-ES" sz="2400" dirty="0"/>
          </a:p>
          <a:p>
            <a:pPr marL="0" indent="0">
              <a:buNone/>
            </a:pP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20396570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Arrays</a:t>
            </a:r>
            <a:r>
              <a:rPr lang="es-ES" dirty="0"/>
              <a:t> dinámicos o colecciones: listas II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930401"/>
            <a:ext cx="10281818" cy="4606878"/>
          </a:xfrm>
        </p:spPr>
        <p:txBody>
          <a:bodyPr>
            <a:normAutofit/>
          </a:bodyPr>
          <a:lstStyle/>
          <a:p>
            <a:r>
              <a:rPr lang="es-ES" dirty="0"/>
              <a:t>Algunos métodos de las listas</a:t>
            </a:r>
          </a:p>
          <a:p>
            <a:pPr lvl="1"/>
            <a:r>
              <a:rPr lang="es-ES" sz="1800" dirty="0"/>
              <a:t>Devuelve el número de elementos reales que contiene: </a:t>
            </a:r>
            <a:r>
              <a:rPr lang="es-ES" sz="1800" dirty="0" err="1"/>
              <a:t>lista.Count</a:t>
            </a:r>
            <a:endParaRPr lang="es-ES" sz="1800" dirty="0"/>
          </a:p>
          <a:p>
            <a:pPr lvl="1"/>
            <a:r>
              <a:rPr lang="es-ES" dirty="0"/>
              <a:t>Añade un elemento a la lista: </a:t>
            </a:r>
            <a:r>
              <a:rPr lang="es-ES" dirty="0" err="1"/>
              <a:t>lista.Add</a:t>
            </a:r>
            <a:r>
              <a:rPr lang="es-ES" dirty="0"/>
              <a:t>(valor)</a:t>
            </a:r>
          </a:p>
          <a:p>
            <a:pPr lvl="1"/>
            <a:r>
              <a:rPr lang="es-ES" dirty="0"/>
              <a:t>Añade un elemento a la lista en un índice concreto: </a:t>
            </a:r>
            <a:r>
              <a:rPr lang="es-ES" dirty="0" err="1"/>
              <a:t>lista.insert</a:t>
            </a:r>
            <a:r>
              <a:rPr lang="es-ES" dirty="0"/>
              <a:t>(</a:t>
            </a:r>
            <a:r>
              <a:rPr lang="es-ES" dirty="0" err="1"/>
              <a:t>indice</a:t>
            </a:r>
            <a:r>
              <a:rPr lang="es-ES" dirty="0"/>
              <a:t>, valor)</a:t>
            </a:r>
          </a:p>
          <a:p>
            <a:pPr lvl="1"/>
            <a:r>
              <a:rPr lang="es-ES" dirty="0"/>
              <a:t>Elimina de la lista el primer elemento que coincida con el valor: </a:t>
            </a:r>
            <a:r>
              <a:rPr lang="es-ES" dirty="0" err="1"/>
              <a:t>lista.Remove</a:t>
            </a:r>
            <a:r>
              <a:rPr lang="es-ES" dirty="0"/>
              <a:t>(valor)</a:t>
            </a:r>
          </a:p>
          <a:p>
            <a:pPr lvl="1"/>
            <a:r>
              <a:rPr lang="es-ES" dirty="0"/>
              <a:t>Elimina de la lista el elemento que está en el índice: </a:t>
            </a:r>
            <a:r>
              <a:rPr lang="es-ES" dirty="0" err="1"/>
              <a:t>lista.RemoveAt</a:t>
            </a:r>
            <a:r>
              <a:rPr lang="es-ES" dirty="0"/>
              <a:t>(</a:t>
            </a:r>
            <a:r>
              <a:rPr lang="es-ES" dirty="0" err="1"/>
              <a:t>indice</a:t>
            </a:r>
            <a:r>
              <a:rPr lang="es-ES" dirty="0"/>
              <a:t>)</a:t>
            </a:r>
          </a:p>
          <a:p>
            <a:pPr lvl="1"/>
            <a:r>
              <a:rPr lang="es-ES" dirty="0"/>
              <a:t>Elimina de la lista tantos elementos como la cantidad empezando por el </a:t>
            </a:r>
            <a:r>
              <a:rPr lang="es-ES" dirty="0" err="1"/>
              <a:t>indice</a:t>
            </a:r>
            <a:r>
              <a:rPr lang="es-ES" dirty="0"/>
              <a:t>: </a:t>
            </a:r>
            <a:r>
              <a:rPr lang="es-ES" dirty="0" err="1"/>
              <a:t>lista.RemoveRange</a:t>
            </a:r>
            <a:r>
              <a:rPr lang="es-ES" dirty="0"/>
              <a:t>(</a:t>
            </a:r>
            <a:r>
              <a:rPr lang="es-ES" dirty="0" err="1"/>
              <a:t>indice</a:t>
            </a:r>
            <a:r>
              <a:rPr lang="es-ES" dirty="0"/>
              <a:t>, cantidad)</a:t>
            </a:r>
          </a:p>
          <a:p>
            <a:pPr lvl="1"/>
            <a:r>
              <a:rPr lang="es-ES" dirty="0"/>
              <a:t>Devuelve true si el valor está en la lista y false si no está: </a:t>
            </a:r>
            <a:r>
              <a:rPr lang="es-ES" dirty="0" err="1"/>
              <a:t>lista.Contains</a:t>
            </a:r>
            <a:r>
              <a:rPr lang="es-ES" dirty="0"/>
              <a:t>(valor)</a:t>
            </a:r>
          </a:p>
          <a:p>
            <a:pPr lvl="1"/>
            <a:r>
              <a:rPr lang="es-ES" dirty="0"/>
              <a:t>Ordena la lista: </a:t>
            </a:r>
            <a:r>
              <a:rPr lang="es-ES" dirty="0" err="1"/>
              <a:t>lista.Sort</a:t>
            </a:r>
            <a:r>
              <a:rPr lang="es-ES" dirty="0"/>
              <a:t>()</a:t>
            </a:r>
          </a:p>
          <a:p>
            <a:pPr lvl="1"/>
            <a:r>
              <a:rPr lang="es-ES" dirty="0"/>
              <a:t>Busca el índice del primer elemento que coinciden con el valor: </a:t>
            </a:r>
            <a:r>
              <a:rPr lang="es-ES" dirty="0" err="1"/>
              <a:t>lista.IndexOf</a:t>
            </a:r>
            <a:r>
              <a:rPr lang="es-ES" dirty="0"/>
              <a:t>(valor)</a:t>
            </a:r>
          </a:p>
          <a:p>
            <a:pPr lvl="1"/>
            <a:r>
              <a:rPr lang="es-ES" dirty="0"/>
              <a:t>Elimina los elementos de la lista: </a:t>
            </a:r>
            <a:r>
              <a:rPr lang="es-ES" dirty="0" err="1"/>
              <a:t>lista.clear</a:t>
            </a:r>
            <a:r>
              <a:rPr lang="es-ES" dirty="0"/>
              <a:t>()</a:t>
            </a:r>
          </a:p>
          <a:p>
            <a:pPr marL="0" indent="0"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468376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Arrays</a:t>
            </a:r>
            <a:r>
              <a:rPr lang="es-ES" dirty="0"/>
              <a:t> dinámicos o colecciones: listas III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45186" y="1825613"/>
            <a:ext cx="11101304" cy="435142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s-ES" sz="2000" dirty="0" err="1">
                <a:latin typeface="Consolas" panose="020B0609020204030204" pitchFamily="49" charset="0"/>
              </a:rPr>
              <a:t>List</a:t>
            </a:r>
            <a:r>
              <a:rPr lang="es-ES" sz="2000" dirty="0">
                <a:latin typeface="Consolas" panose="020B0609020204030204" pitchFamily="49" charset="0"/>
              </a:rPr>
              <a:t>&lt;</a:t>
            </a:r>
            <a:r>
              <a:rPr lang="es-ES" sz="2000" dirty="0" err="1">
                <a:latin typeface="Consolas" panose="020B0609020204030204" pitchFamily="49" charset="0"/>
              </a:rPr>
              <a:t>string</a:t>
            </a:r>
            <a:r>
              <a:rPr lang="es-ES" sz="2000" dirty="0">
                <a:latin typeface="Consolas" panose="020B0609020204030204" pitchFamily="49" charset="0"/>
              </a:rPr>
              <a:t>&gt; verduras = new </a:t>
            </a:r>
            <a:r>
              <a:rPr lang="es-ES" sz="2000" dirty="0" err="1">
                <a:latin typeface="Consolas" panose="020B0609020204030204" pitchFamily="49" charset="0"/>
              </a:rPr>
              <a:t>List</a:t>
            </a:r>
            <a:r>
              <a:rPr lang="es-ES" sz="2000" dirty="0">
                <a:latin typeface="Consolas" panose="020B0609020204030204" pitchFamily="49" charset="0"/>
              </a:rPr>
              <a:t>&lt;</a:t>
            </a:r>
            <a:r>
              <a:rPr lang="es-ES" sz="2000" dirty="0" err="1">
                <a:latin typeface="Consolas" panose="020B0609020204030204" pitchFamily="49" charset="0"/>
              </a:rPr>
              <a:t>string</a:t>
            </a:r>
            <a:r>
              <a:rPr lang="es-ES" sz="2000" dirty="0">
                <a:latin typeface="Consolas" panose="020B0609020204030204" pitchFamily="49" charset="0"/>
              </a:rPr>
              <a:t>&gt;();</a:t>
            </a:r>
          </a:p>
          <a:p>
            <a:pPr>
              <a:lnSpc>
                <a:spcPct val="150000"/>
              </a:lnSpc>
            </a:pPr>
            <a:r>
              <a:rPr lang="es-ES" sz="2000" dirty="0" err="1">
                <a:latin typeface="Consolas" panose="020B0609020204030204" pitchFamily="49" charset="0"/>
              </a:rPr>
              <a:t>List</a:t>
            </a:r>
            <a:r>
              <a:rPr lang="es-ES" sz="2000" dirty="0">
                <a:latin typeface="Consolas" panose="020B0609020204030204" pitchFamily="49" charset="0"/>
              </a:rPr>
              <a:t>&lt;</a:t>
            </a:r>
            <a:r>
              <a:rPr lang="es-ES" sz="2000" dirty="0" err="1">
                <a:latin typeface="Consolas" panose="020B0609020204030204" pitchFamily="49" charset="0"/>
              </a:rPr>
              <a:t>string</a:t>
            </a:r>
            <a:r>
              <a:rPr lang="es-ES" sz="2000" dirty="0">
                <a:latin typeface="Consolas" panose="020B0609020204030204" pitchFamily="49" charset="0"/>
              </a:rPr>
              <a:t>&gt; frutas = new </a:t>
            </a:r>
            <a:r>
              <a:rPr lang="es-ES" sz="2000" dirty="0" err="1">
                <a:latin typeface="Consolas" panose="020B0609020204030204" pitchFamily="49" charset="0"/>
              </a:rPr>
              <a:t>List</a:t>
            </a:r>
            <a:r>
              <a:rPr lang="es-ES" sz="2000" dirty="0">
                <a:latin typeface="Consolas" panose="020B0609020204030204" pitchFamily="49" charset="0"/>
              </a:rPr>
              <a:t>&lt;</a:t>
            </a:r>
            <a:r>
              <a:rPr lang="es-ES" sz="2000" dirty="0" err="1">
                <a:latin typeface="Consolas" panose="020B0609020204030204" pitchFamily="49" charset="0"/>
              </a:rPr>
              <a:t>string</a:t>
            </a:r>
            <a:r>
              <a:rPr lang="es-ES" sz="2000" dirty="0">
                <a:latin typeface="Consolas" panose="020B0609020204030204" pitchFamily="49" charset="0"/>
              </a:rPr>
              <a:t>&gt; {“naranja”, “limón”, “nectarina”} </a:t>
            </a:r>
          </a:p>
          <a:p>
            <a:pPr>
              <a:lnSpc>
                <a:spcPct val="150000"/>
              </a:lnSpc>
            </a:pPr>
            <a:r>
              <a:rPr lang="es-ES" sz="2000" dirty="0" err="1">
                <a:latin typeface="Consolas" panose="020B0609020204030204" pitchFamily="49" charset="0"/>
              </a:rPr>
              <a:t>verduras.add</a:t>
            </a:r>
            <a:r>
              <a:rPr lang="es-ES" sz="2000" dirty="0">
                <a:latin typeface="Consolas" panose="020B0609020204030204" pitchFamily="49" charset="0"/>
              </a:rPr>
              <a:t>(“lechuga”) //”lechuga”</a:t>
            </a:r>
          </a:p>
          <a:p>
            <a:pPr>
              <a:lnSpc>
                <a:spcPct val="150000"/>
              </a:lnSpc>
            </a:pPr>
            <a:r>
              <a:rPr lang="es-ES" sz="2000" dirty="0" err="1">
                <a:latin typeface="Consolas" panose="020B0609020204030204" pitchFamily="49" charset="0"/>
              </a:rPr>
              <a:t>verduras.add</a:t>
            </a:r>
            <a:r>
              <a:rPr lang="es-ES" sz="2000" dirty="0">
                <a:latin typeface="Consolas" panose="020B0609020204030204" pitchFamily="49" charset="0"/>
              </a:rPr>
              <a:t>(“coliflor”)  //”lechuga”, “coliflor”</a:t>
            </a:r>
          </a:p>
          <a:p>
            <a:pPr>
              <a:lnSpc>
                <a:spcPct val="150000"/>
              </a:lnSpc>
            </a:pPr>
            <a:r>
              <a:rPr lang="es-ES" sz="2000" dirty="0" err="1">
                <a:latin typeface="Consolas" panose="020B0609020204030204" pitchFamily="49" charset="0"/>
              </a:rPr>
              <a:t>frutas.insert</a:t>
            </a:r>
            <a:r>
              <a:rPr lang="es-ES" sz="2000" dirty="0">
                <a:latin typeface="Consolas" panose="020B0609020204030204" pitchFamily="49" charset="0"/>
              </a:rPr>
              <a:t>(1,”melocotón”)  //”naranja”, “melocotón”, “limón”, “nectarina”</a:t>
            </a:r>
          </a:p>
          <a:p>
            <a:pPr>
              <a:lnSpc>
                <a:spcPct val="150000"/>
              </a:lnSpc>
            </a:pPr>
            <a:r>
              <a:rPr lang="es-ES" sz="2000" dirty="0" err="1">
                <a:latin typeface="Consolas" panose="020B0609020204030204" pitchFamily="49" charset="0"/>
              </a:rPr>
              <a:t>frutas.indexOf</a:t>
            </a:r>
            <a:r>
              <a:rPr lang="es-ES" sz="2000" dirty="0">
                <a:latin typeface="Consolas" panose="020B0609020204030204" pitchFamily="49" charset="0"/>
              </a:rPr>
              <a:t>(“limón”)  //2</a:t>
            </a:r>
          </a:p>
        </p:txBody>
      </p:sp>
    </p:spTree>
    <p:extLst>
      <p:ext uri="{BB962C8B-B14F-4D97-AF65-F5344CB8AC3E}">
        <p14:creationId xmlns:p14="http://schemas.microsoft.com/office/powerpoint/2010/main" val="14060305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3600" dirty="0" err="1"/>
              <a:t>Arrays</a:t>
            </a:r>
            <a:r>
              <a:rPr lang="es-ES" sz="3600" dirty="0"/>
              <a:t> dinámicos o colecciones IV: Diccionarios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Representa una colección de pares clave y valor que se organizan según la clave.</a:t>
            </a:r>
          </a:p>
          <a:p>
            <a:endParaRPr lang="es-ES" sz="2400" dirty="0"/>
          </a:p>
          <a:p>
            <a:r>
              <a:rPr lang="es-ES" sz="2400" dirty="0"/>
              <a:t>Para crearlos:</a:t>
            </a:r>
          </a:p>
          <a:p>
            <a:pPr marL="342921" lvl="1" indent="0">
              <a:buNone/>
            </a:pPr>
            <a:r>
              <a:rPr lang="es-ES" sz="2091" dirty="0"/>
              <a:t>	</a:t>
            </a:r>
            <a:r>
              <a:rPr lang="es-ES" sz="2091" dirty="0" err="1"/>
              <a:t>Dictionary</a:t>
            </a:r>
            <a:r>
              <a:rPr lang="es-ES" sz="2091" dirty="0"/>
              <a:t>&lt;tipo, tipo&gt; nombre = new </a:t>
            </a:r>
            <a:r>
              <a:rPr lang="es-ES" sz="2091" dirty="0" err="1"/>
              <a:t>Dictionary</a:t>
            </a:r>
            <a:r>
              <a:rPr lang="es-ES" sz="2091" dirty="0"/>
              <a:t>&lt;tipo, tipo&gt; ();</a:t>
            </a:r>
          </a:p>
          <a:p>
            <a:pPr marL="342921" lvl="1" indent="0">
              <a:buNone/>
            </a:pPr>
            <a:endParaRPr lang="es-ES" sz="2091" dirty="0"/>
          </a:p>
          <a:p>
            <a:pPr marL="342921" lvl="1" indent="0">
              <a:buNone/>
            </a:pPr>
            <a:endParaRPr lang="es-ES" sz="2091" dirty="0"/>
          </a:p>
          <a:p>
            <a:pPr marL="0" lvl="1" indent="0">
              <a:buNone/>
            </a:pPr>
            <a:r>
              <a:rPr lang="es-ES" sz="2091" dirty="0" err="1">
                <a:latin typeface="Consolas" panose="020B0609020204030204" pitchFamily="49" charset="0"/>
              </a:rPr>
              <a:t>Dictionary</a:t>
            </a:r>
            <a:r>
              <a:rPr lang="es-ES" sz="2091" dirty="0">
                <a:latin typeface="Consolas" panose="020B0609020204030204" pitchFamily="49" charset="0"/>
              </a:rPr>
              <a:t>&lt;</a:t>
            </a:r>
            <a:r>
              <a:rPr lang="es-ES" sz="2091" dirty="0" err="1">
                <a:latin typeface="Consolas" panose="020B0609020204030204" pitchFamily="49" charset="0"/>
              </a:rPr>
              <a:t>string</a:t>
            </a:r>
            <a:r>
              <a:rPr lang="es-ES" sz="2091" dirty="0">
                <a:latin typeface="Consolas" panose="020B0609020204030204" pitchFamily="49" charset="0"/>
              </a:rPr>
              <a:t>, </a:t>
            </a:r>
            <a:r>
              <a:rPr lang="es-ES" sz="2091" dirty="0" err="1">
                <a:latin typeface="Consolas" panose="020B0609020204030204" pitchFamily="49" charset="0"/>
              </a:rPr>
              <a:t>int</a:t>
            </a:r>
            <a:r>
              <a:rPr lang="es-ES" sz="2091" dirty="0">
                <a:latin typeface="Consolas" panose="020B0609020204030204" pitchFamily="49" charset="0"/>
              </a:rPr>
              <a:t>&gt; edades = new </a:t>
            </a:r>
            <a:r>
              <a:rPr lang="es-ES" sz="2091" dirty="0" err="1">
                <a:latin typeface="Consolas" panose="020B0609020204030204" pitchFamily="49" charset="0"/>
              </a:rPr>
              <a:t>Dictionary</a:t>
            </a:r>
            <a:r>
              <a:rPr lang="es-ES" sz="2091" dirty="0">
                <a:latin typeface="Consolas" panose="020B0609020204030204" pitchFamily="49" charset="0"/>
              </a:rPr>
              <a:t>&lt;</a:t>
            </a:r>
            <a:r>
              <a:rPr lang="es-ES" sz="2091" dirty="0" err="1">
                <a:latin typeface="Consolas" panose="020B0609020204030204" pitchFamily="49" charset="0"/>
              </a:rPr>
              <a:t>string</a:t>
            </a:r>
            <a:r>
              <a:rPr lang="es-ES" sz="2091" dirty="0">
                <a:latin typeface="Consolas" panose="020B0609020204030204" pitchFamily="49" charset="0"/>
              </a:rPr>
              <a:t>, </a:t>
            </a:r>
            <a:r>
              <a:rPr lang="es-ES" sz="2091" dirty="0" err="1">
                <a:latin typeface="Consolas" panose="020B0609020204030204" pitchFamily="49" charset="0"/>
              </a:rPr>
              <a:t>int</a:t>
            </a:r>
            <a:r>
              <a:rPr lang="es-ES" sz="2091" dirty="0">
                <a:latin typeface="Consolas" panose="020B0609020204030204" pitchFamily="49" charset="0"/>
              </a:rPr>
              <a:t>&gt;();</a:t>
            </a:r>
          </a:p>
          <a:p>
            <a:pPr marL="0" lvl="1" indent="0">
              <a:buNone/>
            </a:pPr>
            <a:r>
              <a:rPr lang="es-ES" sz="2091" dirty="0">
                <a:latin typeface="Consolas" panose="020B0609020204030204" pitchFamily="49" charset="0"/>
              </a:rPr>
              <a:t>edades["Ana"] = 25;</a:t>
            </a:r>
          </a:p>
          <a:p>
            <a:pPr marL="0" lvl="1" indent="0">
              <a:buNone/>
            </a:pPr>
            <a:r>
              <a:rPr lang="es-ES" sz="2091" dirty="0">
                <a:latin typeface="Consolas" panose="020B0609020204030204" pitchFamily="49" charset="0"/>
              </a:rPr>
              <a:t>edades["Luis"] = 30;</a:t>
            </a:r>
          </a:p>
          <a:p>
            <a:pPr marL="0" lvl="1" indent="0">
              <a:buNone/>
            </a:pPr>
            <a:r>
              <a:rPr lang="es-ES" sz="2091" dirty="0" err="1">
                <a:latin typeface="Consolas" panose="020B0609020204030204" pitchFamily="49" charset="0"/>
              </a:rPr>
              <a:t>Console.WriteLine</a:t>
            </a:r>
            <a:r>
              <a:rPr lang="es-ES" sz="2091" dirty="0">
                <a:latin typeface="Consolas" panose="020B0609020204030204" pitchFamily="49" charset="0"/>
              </a:rPr>
              <a:t>(edades["Luis"]); // 30</a:t>
            </a:r>
          </a:p>
        </p:txBody>
      </p:sp>
    </p:spTree>
    <p:extLst>
      <p:ext uri="{BB962C8B-B14F-4D97-AF65-F5344CB8AC3E}">
        <p14:creationId xmlns:p14="http://schemas.microsoft.com/office/powerpoint/2010/main" val="29469128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foreach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Para recorrer </a:t>
            </a:r>
            <a:r>
              <a:rPr lang="es-ES" sz="2400" dirty="0" err="1"/>
              <a:t>arrays</a:t>
            </a:r>
            <a:r>
              <a:rPr lang="es-ES" sz="2400" dirty="0"/>
              <a:t>, matrices o colecciones podemos usar el bucle </a:t>
            </a:r>
            <a:r>
              <a:rPr lang="es-ES" sz="2400" dirty="0" err="1"/>
              <a:t>foreach</a:t>
            </a:r>
            <a:r>
              <a:rPr lang="es-ES" sz="2400" dirty="0"/>
              <a:t> … [As tipo] In …</a:t>
            </a:r>
          </a:p>
          <a:p>
            <a:endParaRPr lang="es-ES" sz="2400" dirty="0"/>
          </a:p>
          <a:p>
            <a:pPr marL="0" indent="0">
              <a:buNone/>
              <a:tabLst>
                <a:tab pos="1433513" algn="l"/>
              </a:tabLst>
            </a:pPr>
            <a:r>
              <a:rPr lang="es-ES" sz="2400" dirty="0"/>
              <a:t>	</a:t>
            </a:r>
            <a:r>
              <a:rPr lang="es-ES" sz="2400" dirty="0" err="1"/>
              <a:t>foreach</a:t>
            </a:r>
            <a:r>
              <a:rPr lang="es-ES" sz="2400" dirty="0"/>
              <a:t> (</a:t>
            </a:r>
            <a:r>
              <a:rPr lang="es-ES" sz="2400" dirty="0" err="1"/>
              <a:t>string</a:t>
            </a:r>
            <a:r>
              <a:rPr lang="es-ES" sz="2400" dirty="0"/>
              <a:t> animal in animales)</a:t>
            </a:r>
          </a:p>
          <a:p>
            <a:pPr marL="0" indent="0">
              <a:buNone/>
              <a:tabLst>
                <a:tab pos="1433513" algn="l"/>
              </a:tabLst>
            </a:pPr>
            <a:r>
              <a:rPr lang="es-ES" sz="2400" dirty="0"/>
              <a:t>	{</a:t>
            </a:r>
          </a:p>
          <a:p>
            <a:pPr marL="0" indent="0">
              <a:buNone/>
              <a:tabLst>
                <a:tab pos="1433513" algn="l"/>
              </a:tabLst>
            </a:pPr>
            <a:r>
              <a:rPr lang="es-ES" sz="2400" dirty="0"/>
              <a:t>	    </a:t>
            </a:r>
            <a:r>
              <a:rPr lang="es-ES" sz="2400" dirty="0" err="1"/>
              <a:t>Console.WriteLine</a:t>
            </a:r>
            <a:r>
              <a:rPr lang="es-ES" sz="2400" dirty="0"/>
              <a:t>(animal);</a:t>
            </a:r>
          </a:p>
          <a:p>
            <a:pPr marL="0" indent="0">
              <a:buNone/>
              <a:tabLst>
                <a:tab pos="1433513" algn="l"/>
              </a:tabLst>
            </a:pPr>
            <a:r>
              <a:rPr lang="es-ES" sz="2400"/>
              <a:t>	}</a:t>
            </a:r>
            <a:endParaRPr lang="es-ES" sz="2400" dirty="0"/>
          </a:p>
          <a:p>
            <a:pPr marL="0" indent="0">
              <a:buNone/>
              <a:tabLst>
                <a:tab pos="1433513" algn="l"/>
              </a:tabLst>
            </a:pPr>
            <a:r>
              <a:rPr lang="es-ES" sz="24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1161595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09CC1D-E818-8EB6-ED2E-FA27EAE26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3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1DEBB7-880C-00E7-F849-33FA52D0AC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17650"/>
            <a:ext cx="10864178" cy="869794"/>
          </a:xfrm>
        </p:spPr>
        <p:txBody>
          <a:bodyPr>
            <a:noAutofit/>
          </a:bodyPr>
          <a:lstStyle/>
          <a:p>
            <a:pPr marL="0" indent="0" algn="just" rtl="0">
              <a:lnSpc>
                <a:spcPct val="150000"/>
              </a:lnSpc>
              <a:buNone/>
            </a:pPr>
            <a:r>
              <a:rPr lang="es-ES" sz="1600" dirty="0">
                <a:effectLst/>
                <a:latin typeface="Arial, sans-serif"/>
              </a:rPr>
              <a:t>Crear un programa que vaya pidiendo números. Estos números se guardarán en una lista, y cuando el usuario no quiera insertar más le mostraremos un menú con las siguientes opciones:</a:t>
            </a:r>
          </a:p>
          <a:p>
            <a:pPr marL="0" indent="0" algn="just" rtl="0">
              <a:lnSpc>
                <a:spcPct val="150000"/>
              </a:lnSpc>
              <a:buNone/>
            </a:pPr>
            <a:endParaRPr lang="es-ES" sz="1600" dirty="0">
              <a:effectLst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B66A359D-6F71-CD8C-AD6F-8396B6143B39}"/>
              </a:ext>
            </a:extLst>
          </p:cNvPr>
          <p:cNvSpPr txBox="1">
            <a:spLocks/>
          </p:cNvSpPr>
          <p:nvPr/>
        </p:nvSpPr>
        <p:spPr>
          <a:xfrm>
            <a:off x="677334" y="3138450"/>
            <a:ext cx="10676196" cy="3088891"/>
          </a:xfrm>
          <a:prstGeom prst="rect">
            <a:avLst/>
          </a:prstGeom>
        </p:spPr>
        <p:txBody>
          <a:bodyPr vert="horz" lIns="91440" tIns="45720" rIns="91440" bIns="45720" numCol="2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Wingdings 3" charset="2"/>
              <a:buNone/>
            </a:pPr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, sans-serif"/>
              </a:rPr>
              <a:t>1.- Multiplicar por tres los números pares.</a:t>
            </a:r>
          </a:p>
          <a:p>
            <a:pPr marL="0" indent="0" algn="just">
              <a:lnSpc>
                <a:spcPct val="150000"/>
              </a:lnSpc>
              <a:buFont typeface="Wingdings 3" charset="2"/>
              <a:buNone/>
            </a:pPr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, sans-serif"/>
              </a:rPr>
              <a:t>2.- Multiplicar por dos todos los números.</a:t>
            </a:r>
          </a:p>
          <a:p>
            <a:pPr marL="0" indent="0" algn="just">
              <a:buFont typeface="Wingdings 3" charset="2"/>
              <a:buNone/>
            </a:pPr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, sans-serif"/>
              </a:rPr>
              <a:t>3.- Añadir un número al final </a:t>
            </a:r>
          </a:p>
          <a:p>
            <a:pPr marL="0" indent="0" algn="just">
              <a:lnSpc>
                <a:spcPct val="150000"/>
              </a:lnSpc>
              <a:buFont typeface="Wingdings 3" charset="2"/>
              <a:buNone/>
            </a:pPr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, sans-serif"/>
              </a:rPr>
              <a:t>4.- Añadir un número al principio </a:t>
            </a:r>
          </a:p>
          <a:p>
            <a:pPr marL="0" indent="0" algn="just">
              <a:lnSpc>
                <a:spcPct val="150000"/>
              </a:lnSpc>
              <a:buFont typeface="Wingdings 3" charset="2"/>
              <a:buNone/>
            </a:pPr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, sans-serif"/>
              </a:rPr>
              <a:t>5.- Añadir un número en una posición concreta.</a:t>
            </a:r>
          </a:p>
          <a:p>
            <a:pPr marL="0" indent="0" algn="just">
              <a:lnSpc>
                <a:spcPct val="150000"/>
              </a:lnSpc>
              <a:buFont typeface="Wingdings 3" charset="2"/>
              <a:buNone/>
            </a:pPr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, sans-serif"/>
              </a:rPr>
              <a:t>6.- Borrar el último elemento </a:t>
            </a:r>
          </a:p>
          <a:p>
            <a:pPr marL="268288" indent="0" algn="just">
              <a:lnSpc>
                <a:spcPct val="150000"/>
              </a:lnSpc>
              <a:buFont typeface="Wingdings 3" charset="2"/>
              <a:buNone/>
            </a:pPr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, sans-serif"/>
              </a:rPr>
              <a:t>7.- Borrar el primer elemento </a:t>
            </a:r>
          </a:p>
          <a:p>
            <a:pPr marL="268288" indent="0" algn="just">
              <a:lnSpc>
                <a:spcPct val="150000"/>
              </a:lnSpc>
              <a:buFont typeface="Wingdings 3" charset="2"/>
              <a:buNone/>
            </a:pPr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, sans-serif"/>
              </a:rPr>
              <a:t>8.- Borrar un elemento en una posición concreta.</a:t>
            </a:r>
          </a:p>
          <a:p>
            <a:pPr marL="268288" indent="0" algn="just">
              <a:lnSpc>
                <a:spcPct val="150000"/>
              </a:lnSpc>
              <a:buFont typeface="Wingdings 3" charset="2"/>
              <a:buNone/>
            </a:pPr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, sans-serif"/>
              </a:rPr>
              <a:t>9.- Buscar un elemento.</a:t>
            </a:r>
          </a:p>
          <a:p>
            <a:pPr marL="268288" indent="0" algn="just">
              <a:lnSpc>
                <a:spcPct val="150000"/>
              </a:lnSpc>
              <a:buFont typeface="Wingdings 3" charset="2"/>
              <a:buNone/>
            </a:pPr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, sans-serif"/>
              </a:rPr>
              <a:t>10.- Ordenar los elementos de un array.</a:t>
            </a:r>
          </a:p>
          <a:p>
            <a:pPr marL="268288" indent="0" algn="just">
              <a:lnSpc>
                <a:spcPct val="150000"/>
              </a:lnSpc>
              <a:buFont typeface="Wingdings 3" charset="2"/>
              <a:buNone/>
            </a:pPr>
            <a:r>
              <a:rPr lang="es-E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, sans-serif"/>
              </a:rPr>
              <a:t>11.- Salir.</a:t>
            </a:r>
            <a:endParaRPr lang="es-E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23174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9FEC8D-F3BB-44FA-8DBD-6AA109215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Clases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36C38E-1789-4FD6-A097-A3216A9FD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Son un tipo de datos definido por el usuario.</a:t>
            </a:r>
          </a:p>
          <a:p>
            <a:r>
              <a:rPr lang="es-ES" dirty="0"/>
              <a:t>Son útiles cuando se desea que una variable contenga varios datos relacionados.</a:t>
            </a:r>
          </a:p>
          <a:p>
            <a:r>
              <a:rPr lang="es-ES" dirty="0"/>
              <a:t>Para crear una instancia de ellas hay que hacer un new.</a:t>
            </a:r>
          </a:p>
          <a:p>
            <a:r>
              <a:rPr lang="es-ES" dirty="0"/>
              <a:t>Necesitan al menos un constructor.</a:t>
            </a:r>
          </a:p>
          <a:p>
            <a:r>
              <a:rPr lang="es-ES" dirty="0"/>
              <a:t>Se pueden heredar.</a:t>
            </a:r>
          </a:p>
        </p:txBody>
      </p:sp>
    </p:spTree>
    <p:extLst>
      <p:ext uri="{BB962C8B-B14F-4D97-AF65-F5344CB8AC3E}">
        <p14:creationId xmlns:p14="http://schemas.microsoft.com/office/powerpoint/2010/main" val="27526239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409501-FC20-42EB-9DD4-8FD932C5D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Definir la clase, campos y constructores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394286-D413-4EF1-9076-0CA36B670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391" y="1972492"/>
            <a:ext cx="4273489" cy="4297680"/>
          </a:xfrm>
        </p:spPr>
        <p:txBody>
          <a:bodyPr>
            <a:normAutofit fontScale="77500" lnSpcReduction="20000"/>
          </a:bodyPr>
          <a:lstStyle/>
          <a:p>
            <a:r>
              <a:rPr lang="es-ES" dirty="0"/>
              <a:t>Definir la clase:</a:t>
            </a:r>
          </a:p>
          <a:p>
            <a:pPr marL="0" indent="0">
              <a:buNone/>
            </a:pPr>
            <a:r>
              <a:rPr lang="es-ES" dirty="0"/>
              <a:t>	[Accesibilidad] </a:t>
            </a:r>
            <a:r>
              <a:rPr lang="es-ES" dirty="0" err="1"/>
              <a:t>class</a:t>
            </a:r>
            <a:r>
              <a:rPr lang="es-ES" dirty="0"/>
              <a:t> Nombre</a:t>
            </a:r>
          </a:p>
          <a:p>
            <a:pPr marL="0" indent="0">
              <a:buNone/>
            </a:pPr>
            <a:r>
              <a:rPr lang="es-ES" dirty="0"/>
              <a:t>	{</a:t>
            </a:r>
          </a:p>
          <a:p>
            <a:pPr marL="0" indent="0">
              <a:buNone/>
            </a:pPr>
            <a:r>
              <a:rPr lang="es-ES" dirty="0"/>
              <a:t>	    …</a:t>
            </a:r>
          </a:p>
          <a:p>
            <a:pPr marL="0" indent="0">
              <a:buNone/>
            </a:pPr>
            <a:r>
              <a:rPr lang="es-ES" dirty="0"/>
              <a:t>	}	</a:t>
            </a:r>
          </a:p>
          <a:p>
            <a:pPr marL="0" indent="0">
              <a:buNone/>
            </a:pPr>
            <a:endParaRPr lang="es-ES" dirty="0"/>
          </a:p>
          <a:p>
            <a:r>
              <a:rPr lang="es-ES" dirty="0"/>
              <a:t>Definir campos:</a:t>
            </a:r>
          </a:p>
          <a:p>
            <a:pPr marL="0" indent="0">
              <a:buNone/>
            </a:pPr>
            <a:r>
              <a:rPr lang="es-ES" dirty="0"/>
              <a:t>	[Accesibilidad] tipo </a:t>
            </a:r>
            <a:r>
              <a:rPr lang="es-ES" dirty="0" err="1"/>
              <a:t>nombreCampo</a:t>
            </a:r>
            <a:r>
              <a:rPr lang="es-ES" dirty="0"/>
              <a:t>;</a:t>
            </a:r>
          </a:p>
          <a:p>
            <a:pPr marL="0" indent="0">
              <a:buNone/>
            </a:pPr>
            <a:endParaRPr lang="es-ES" dirty="0"/>
          </a:p>
          <a:p>
            <a:r>
              <a:rPr lang="es-ES" dirty="0"/>
              <a:t>Definir uno o más constructores:</a:t>
            </a:r>
          </a:p>
          <a:p>
            <a:pPr marL="0" indent="0">
              <a:buNone/>
            </a:pPr>
            <a:r>
              <a:rPr lang="es-ES" dirty="0"/>
              <a:t>	[Accesibilidad] Nombre (variable1 As valor…)</a:t>
            </a:r>
          </a:p>
          <a:p>
            <a:pPr marL="0" indent="0">
              <a:buNone/>
            </a:pPr>
            <a:r>
              <a:rPr lang="es-ES" dirty="0"/>
              <a:t>	{</a:t>
            </a:r>
          </a:p>
          <a:p>
            <a:pPr marL="0" indent="0">
              <a:buNone/>
            </a:pPr>
            <a:r>
              <a:rPr lang="es-ES" dirty="0"/>
              <a:t>	     </a:t>
            </a:r>
            <a:r>
              <a:rPr lang="es-ES" dirty="0" err="1"/>
              <a:t>this.propiedad</a:t>
            </a:r>
            <a:r>
              <a:rPr lang="es-ES" dirty="0"/>
              <a:t> = variable1;</a:t>
            </a:r>
          </a:p>
          <a:p>
            <a:pPr marL="0" indent="0">
              <a:buNone/>
            </a:pPr>
            <a:r>
              <a:rPr lang="es-ES" dirty="0"/>
              <a:t>	     …</a:t>
            </a:r>
          </a:p>
          <a:p>
            <a:pPr marL="0" indent="0">
              <a:buNone/>
            </a:pPr>
            <a:r>
              <a:rPr lang="es-ES" dirty="0"/>
              <a:t>	}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AFFC2ABA-C7F6-4867-98EF-217AEDEEC5D8}"/>
              </a:ext>
            </a:extLst>
          </p:cNvPr>
          <p:cNvSpPr txBox="1">
            <a:spLocks/>
          </p:cNvSpPr>
          <p:nvPr/>
        </p:nvSpPr>
        <p:spPr>
          <a:xfrm>
            <a:off x="5029200" y="1690733"/>
            <a:ext cx="6492240" cy="457943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</a:rPr>
              <a:t>internal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</a:rPr>
              <a:t>class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</a:rPr>
              <a:t> Cuenta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</a:rPr>
              <a:t>public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</a:rPr>
              <a:t> id;    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</a:rPr>
              <a:t>public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</a:rPr>
              <a:t> titular;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</a:rPr>
              <a:t>public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</a:rPr>
              <a:t>double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</a:rPr>
              <a:t> cantidad;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</a:rPr>
              <a:t>private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</a:rPr>
              <a:t>double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</a:rPr>
              <a:t> intereses;</a:t>
            </a:r>
          </a:p>
          <a:p>
            <a:pPr marL="0" indent="0">
              <a:buNone/>
            </a:pPr>
            <a:endParaRPr lang="es-ES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</a:rPr>
              <a:t>public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</a:rPr>
              <a:t> Cuenta (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</a:rPr>
              <a:t> titular,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</a:rPr>
              <a:t>double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</a:rPr>
              <a:t> cantidad)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</a:rPr>
              <a:t>this.titular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</a:rPr>
              <a:t> = titular;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</a:rPr>
              <a:t>this.cantidad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</a:rPr>
              <a:t> = cantidad;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582318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E3D2A9-18B6-4807-B987-D61CAFD83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Definir el </a:t>
            </a:r>
            <a:r>
              <a:rPr lang="es-ES" dirty="0" err="1"/>
              <a:t>get</a:t>
            </a:r>
            <a:r>
              <a:rPr lang="es-ES" dirty="0"/>
              <a:t> y set de los campos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00C627-5F25-484C-ACD3-2F53ECC7F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29" y="2160586"/>
            <a:ext cx="6259043" cy="3880773"/>
          </a:xfrm>
        </p:spPr>
        <p:txBody>
          <a:bodyPr anchor="ctr">
            <a:normAutofit fontScale="92500"/>
          </a:bodyPr>
          <a:lstStyle/>
          <a:p>
            <a:r>
              <a:rPr lang="es-ES" dirty="0"/>
              <a:t>Las propiedades implementadas automáticamente permiten especificar rápidamente una propiedad de una clase sin tener que escribir el </a:t>
            </a:r>
            <a:r>
              <a:rPr lang="es-ES" dirty="0" err="1"/>
              <a:t>get</a:t>
            </a:r>
            <a:r>
              <a:rPr lang="es-ES" dirty="0"/>
              <a:t> y el set.</a:t>
            </a:r>
          </a:p>
          <a:p>
            <a:r>
              <a:rPr lang="es-ES" dirty="0"/>
              <a:t>El compilador crea automáticamente un campo de respaldo privado para almacenar la variable de propiedad y sus procedimientos </a:t>
            </a:r>
            <a:r>
              <a:rPr lang="es-ES" dirty="0" err="1"/>
              <a:t>get</a:t>
            </a:r>
            <a:r>
              <a:rPr lang="es-ES" dirty="0"/>
              <a:t> y set.</a:t>
            </a:r>
          </a:p>
          <a:p>
            <a:r>
              <a:rPr lang="es-ES" dirty="0"/>
              <a:t>Se puede definir en una sola línea</a:t>
            </a:r>
          </a:p>
          <a:p>
            <a:pPr marL="457200" lvl="1" indent="0">
              <a:buNone/>
            </a:pPr>
            <a:r>
              <a:rPr lang="es-ES" dirty="0">
                <a:latin typeface="Consolas" panose="020B0609020204030204" pitchFamily="49" charset="0"/>
              </a:rPr>
              <a:t>[accesibilidad] tipo </a:t>
            </a:r>
            <a:r>
              <a:rPr lang="es-ES" dirty="0" err="1">
                <a:latin typeface="Consolas" panose="020B0609020204030204" pitchFamily="49" charset="0"/>
              </a:rPr>
              <a:t>nombreCampo</a:t>
            </a:r>
            <a:r>
              <a:rPr lang="es-ES" dirty="0">
                <a:latin typeface="Consolas" panose="020B0609020204030204" pitchFamily="49" charset="0"/>
              </a:rPr>
              <a:t> { </a:t>
            </a:r>
            <a:r>
              <a:rPr lang="es-ES" dirty="0" err="1">
                <a:latin typeface="Consolas" panose="020B0609020204030204" pitchFamily="49" charset="0"/>
              </a:rPr>
              <a:t>get</a:t>
            </a:r>
            <a:r>
              <a:rPr lang="es-ES" dirty="0">
                <a:latin typeface="Consolas" panose="020B0609020204030204" pitchFamily="49" charset="0"/>
              </a:rPr>
              <a:t>; set; }</a:t>
            </a:r>
          </a:p>
          <a:p>
            <a:r>
              <a:rPr lang="es-ES" dirty="0"/>
              <a:t>Esta línea seria como hacer todo lo que vemos en la imagen</a:t>
            </a:r>
          </a:p>
          <a:p>
            <a:r>
              <a:rPr lang="es-ES" dirty="0"/>
              <a:t>Si queremos que la propiedad sea de solo lectura, la declaramos sin método set.</a:t>
            </a:r>
          </a:p>
          <a:p>
            <a:pPr marL="457200" lvl="1" indent="0">
              <a:buNone/>
            </a:pPr>
            <a:r>
              <a:rPr lang="es-ES" dirty="0">
                <a:latin typeface="Consolas" panose="020B0609020204030204" pitchFamily="49" charset="0"/>
              </a:rPr>
              <a:t>[accesibilidad] tipo </a:t>
            </a:r>
            <a:r>
              <a:rPr lang="es-ES" dirty="0" err="1">
                <a:latin typeface="Consolas" panose="020B0609020204030204" pitchFamily="49" charset="0"/>
              </a:rPr>
              <a:t>nombreCampo</a:t>
            </a:r>
            <a:r>
              <a:rPr lang="es-ES" dirty="0">
                <a:latin typeface="Consolas" panose="020B0609020204030204" pitchFamily="49" charset="0"/>
              </a:rPr>
              <a:t> { </a:t>
            </a:r>
            <a:r>
              <a:rPr lang="es-ES" dirty="0" err="1">
                <a:latin typeface="Consolas" panose="020B0609020204030204" pitchFamily="49" charset="0"/>
              </a:rPr>
              <a:t>get</a:t>
            </a:r>
            <a:r>
              <a:rPr lang="es-ES" dirty="0">
                <a:latin typeface="Consolas" panose="020B0609020204030204" pitchFamily="49" charset="0"/>
              </a:rPr>
              <a:t>; }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6AB8358-7E11-4D32-9331-3ED0537B415C}"/>
              </a:ext>
            </a:extLst>
          </p:cNvPr>
          <p:cNvSpPr/>
          <p:nvPr/>
        </p:nvSpPr>
        <p:spPr>
          <a:xfrm>
            <a:off x="6947064" y="2526847"/>
            <a:ext cx="4918364" cy="203132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</a:rPr>
              <a:t>private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</a:rPr>
              <a:t> titular;</a:t>
            </a:r>
          </a:p>
          <a:p>
            <a:endParaRPr lang="es-ES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</a:rPr>
              <a:t>public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</a:rPr>
              <a:t>string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</a:rPr>
              <a:t> Titular</a:t>
            </a:r>
          </a:p>
          <a:p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</a:rPr>
              <a:t>get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</a:rPr>
              <a:t> {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</a:rPr>
              <a:t>return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</a:rPr>
              <a:t> titular; }</a:t>
            </a:r>
          </a:p>
          <a:p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</a:rPr>
              <a:t>    set { titular = </a:t>
            </a:r>
            <a:r>
              <a:rPr lang="es-ES" dirty="0" err="1">
                <a:solidFill>
                  <a:schemeClr val="bg1"/>
                </a:solidFill>
                <a:latin typeface="Consolas" panose="020B0609020204030204" pitchFamily="49" charset="0"/>
              </a:rPr>
              <a:t>value</a:t>
            </a:r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</a:rPr>
              <a:t>; }</a:t>
            </a:r>
          </a:p>
          <a:p>
            <a:r>
              <a:rPr lang="es-ES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2C3D133-5D19-80E1-5915-27F643A82795}"/>
              </a:ext>
            </a:extLst>
          </p:cNvPr>
          <p:cNvSpPr/>
          <p:nvPr/>
        </p:nvSpPr>
        <p:spPr>
          <a:xfrm>
            <a:off x="6947064" y="4769305"/>
            <a:ext cx="4918364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public string Titular { get; set; }</a:t>
            </a:r>
            <a:endParaRPr lang="es-E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26362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A2AC42-C47C-47AA-B826-C3B803ACB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Clases implementadas automáticamente 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FC82F551-C020-4163-BC24-9113DD55620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147" y="1825613"/>
            <a:ext cx="10515383" cy="45359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925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dirty="0" err="1">
                <a:solidFill>
                  <a:schemeClr val="bg1"/>
                </a:solidFill>
              </a:rPr>
              <a:t>class</a:t>
            </a:r>
            <a:r>
              <a:rPr lang="es-ES" dirty="0">
                <a:solidFill>
                  <a:schemeClr val="bg1"/>
                </a:solidFill>
              </a:rPr>
              <a:t> Cuenta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{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 public int Id { get; }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        </a:t>
            </a:r>
            <a:r>
              <a:rPr lang="es-ES" dirty="0" err="1">
                <a:solidFill>
                  <a:schemeClr val="bg1"/>
                </a:solidFill>
              </a:rPr>
              <a:t>public</a:t>
            </a:r>
            <a:r>
              <a:rPr lang="es-ES" dirty="0">
                <a:solidFill>
                  <a:schemeClr val="bg1"/>
                </a:solidFill>
              </a:rPr>
              <a:t> </a:t>
            </a:r>
            <a:r>
              <a:rPr lang="es-ES" dirty="0" err="1">
                <a:solidFill>
                  <a:schemeClr val="bg1"/>
                </a:solidFill>
              </a:rPr>
              <a:t>string</a:t>
            </a:r>
            <a:r>
              <a:rPr lang="es-ES" dirty="0">
                <a:solidFill>
                  <a:schemeClr val="bg1"/>
                </a:solidFill>
              </a:rPr>
              <a:t> Titular { </a:t>
            </a:r>
            <a:r>
              <a:rPr lang="es-ES" dirty="0" err="1">
                <a:solidFill>
                  <a:schemeClr val="bg1"/>
                </a:solidFill>
              </a:rPr>
              <a:t>get</a:t>
            </a:r>
            <a:r>
              <a:rPr lang="es-ES" dirty="0">
                <a:solidFill>
                  <a:schemeClr val="bg1"/>
                </a:solidFill>
              </a:rPr>
              <a:t>; }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 public double </a:t>
            </a:r>
            <a:r>
              <a:rPr lang="en-US" dirty="0" err="1">
                <a:solidFill>
                  <a:schemeClr val="bg1"/>
                </a:solidFill>
              </a:rPr>
              <a:t>Cantidad</a:t>
            </a:r>
            <a:r>
              <a:rPr lang="en-US" dirty="0">
                <a:solidFill>
                  <a:schemeClr val="bg1"/>
                </a:solidFill>
              </a:rPr>
              <a:t> { get; set; }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        private double </a:t>
            </a:r>
            <a:r>
              <a:rPr lang="en-US" dirty="0" err="1">
                <a:solidFill>
                  <a:schemeClr val="bg1"/>
                </a:solidFill>
              </a:rPr>
              <a:t>Intereses</a:t>
            </a:r>
            <a:r>
              <a:rPr lang="en-US" dirty="0">
                <a:solidFill>
                  <a:schemeClr val="bg1"/>
                </a:solidFill>
              </a:rPr>
              <a:t> { get; set; }</a:t>
            </a:r>
          </a:p>
          <a:p>
            <a:pPr marL="0" indent="0">
              <a:buNone/>
            </a:pPr>
            <a:endParaRPr lang="es-E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        </a:t>
            </a:r>
            <a:r>
              <a:rPr lang="es-ES" dirty="0" err="1">
                <a:solidFill>
                  <a:schemeClr val="bg1"/>
                </a:solidFill>
              </a:rPr>
              <a:t>public</a:t>
            </a:r>
            <a:r>
              <a:rPr lang="es-ES" dirty="0">
                <a:solidFill>
                  <a:schemeClr val="bg1"/>
                </a:solidFill>
              </a:rPr>
              <a:t> Cuenta (</a:t>
            </a:r>
            <a:r>
              <a:rPr lang="es-ES" dirty="0" err="1">
                <a:solidFill>
                  <a:schemeClr val="bg1"/>
                </a:solidFill>
              </a:rPr>
              <a:t>string</a:t>
            </a:r>
            <a:r>
              <a:rPr lang="es-ES" dirty="0">
                <a:solidFill>
                  <a:schemeClr val="bg1"/>
                </a:solidFill>
              </a:rPr>
              <a:t> titular, </a:t>
            </a:r>
            <a:r>
              <a:rPr lang="es-ES" dirty="0" err="1">
                <a:solidFill>
                  <a:schemeClr val="bg1"/>
                </a:solidFill>
              </a:rPr>
              <a:t>double</a:t>
            </a:r>
            <a:r>
              <a:rPr lang="es-ES" dirty="0">
                <a:solidFill>
                  <a:schemeClr val="bg1"/>
                </a:solidFill>
              </a:rPr>
              <a:t> cantidad)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        {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            </a:t>
            </a:r>
            <a:r>
              <a:rPr lang="es-ES" dirty="0" err="1">
                <a:solidFill>
                  <a:schemeClr val="bg1"/>
                </a:solidFill>
              </a:rPr>
              <a:t>this.Titular</a:t>
            </a:r>
            <a:r>
              <a:rPr lang="es-ES" dirty="0">
                <a:solidFill>
                  <a:schemeClr val="bg1"/>
                </a:solidFill>
              </a:rPr>
              <a:t> = titular;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            </a:t>
            </a:r>
            <a:r>
              <a:rPr lang="es-ES" dirty="0" err="1">
                <a:solidFill>
                  <a:schemeClr val="bg1"/>
                </a:solidFill>
              </a:rPr>
              <a:t>this.Cantidad</a:t>
            </a:r>
            <a:r>
              <a:rPr lang="es-ES" dirty="0">
                <a:solidFill>
                  <a:schemeClr val="bg1"/>
                </a:solidFill>
              </a:rPr>
              <a:t> = cantidad;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            </a:t>
            </a:r>
            <a:r>
              <a:rPr lang="es-ES" dirty="0" err="1">
                <a:solidFill>
                  <a:schemeClr val="bg1"/>
                </a:solidFill>
              </a:rPr>
              <a:t>this.Intereses</a:t>
            </a:r>
            <a:r>
              <a:rPr lang="es-ES" dirty="0">
                <a:solidFill>
                  <a:schemeClr val="bg1"/>
                </a:solidFill>
              </a:rPr>
              <a:t> = 0;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        }</a:t>
            </a:r>
          </a:p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}</a:t>
            </a:r>
            <a:endParaRPr lang="es-ES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1251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957D1E-534A-4AB4-82D8-4F6A28974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Definir métodos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91979D-A5B3-492E-ACF7-218CDA980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836" y="3292158"/>
            <a:ext cx="4470668" cy="177655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dirty="0"/>
              <a:t>[Accesibilidad] tipo </a:t>
            </a:r>
            <a:r>
              <a:rPr lang="es-ES" dirty="0" err="1"/>
              <a:t>NombreMetodo</a:t>
            </a:r>
            <a:r>
              <a:rPr lang="es-ES" dirty="0"/>
              <a:t>()</a:t>
            </a:r>
          </a:p>
          <a:p>
            <a:pPr marL="0" indent="0">
              <a:buNone/>
            </a:pPr>
            <a:r>
              <a:rPr lang="es-ES" dirty="0"/>
              <a:t>{</a:t>
            </a:r>
          </a:p>
          <a:p>
            <a:pPr marL="0" indent="0">
              <a:buNone/>
            </a:pPr>
            <a:r>
              <a:rPr lang="es-ES" dirty="0"/>
              <a:t>    instrucciones;</a:t>
            </a:r>
          </a:p>
          <a:p>
            <a:pPr marL="0" indent="0">
              <a:buNone/>
            </a:pPr>
            <a:r>
              <a:rPr lang="es-ES" dirty="0"/>
              <a:t>}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D7171DB9-A1F6-4556-A787-4C33FD3FD3FA}"/>
              </a:ext>
            </a:extLst>
          </p:cNvPr>
          <p:cNvSpPr txBox="1">
            <a:spLocks/>
          </p:cNvSpPr>
          <p:nvPr/>
        </p:nvSpPr>
        <p:spPr>
          <a:xfrm>
            <a:off x="5148529" y="1867989"/>
            <a:ext cx="6636635" cy="462488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ES" sz="1700" dirty="0" err="1">
                <a:solidFill>
                  <a:schemeClr val="bg1"/>
                </a:solidFill>
                <a:latin typeface="Consolas" panose="020B0609020204030204" pitchFamily="49" charset="0"/>
              </a:rPr>
              <a:t>public</a:t>
            </a:r>
            <a:r>
              <a:rPr lang="es-ES" sz="17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s-ES" sz="1700" dirty="0" err="1">
                <a:solidFill>
                  <a:schemeClr val="bg1"/>
                </a:solidFill>
                <a:latin typeface="Consolas" panose="020B0609020204030204" pitchFamily="49" charset="0"/>
              </a:rPr>
              <a:t>void</a:t>
            </a:r>
            <a:r>
              <a:rPr lang="es-ES" sz="17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s-ES" sz="1700" dirty="0" err="1">
                <a:solidFill>
                  <a:schemeClr val="bg1"/>
                </a:solidFill>
                <a:latin typeface="Consolas" panose="020B0609020204030204" pitchFamily="49" charset="0"/>
              </a:rPr>
              <a:t>TieneIntereses</a:t>
            </a:r>
            <a:r>
              <a:rPr lang="es-ES" sz="1700" dirty="0">
                <a:solidFill>
                  <a:schemeClr val="bg1"/>
                </a:solidFill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s-ES" sz="1700" dirty="0">
                <a:solidFill>
                  <a:schemeClr val="bg1"/>
                </a:solidFill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s-ES" sz="17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s-ES" sz="1700" dirty="0" err="1">
                <a:solidFill>
                  <a:schemeClr val="bg1"/>
                </a:solidFill>
                <a:latin typeface="Consolas" panose="020B0609020204030204" pitchFamily="49" charset="0"/>
              </a:rPr>
              <a:t>if</a:t>
            </a:r>
            <a:r>
              <a:rPr lang="es-ES" sz="1700" dirty="0">
                <a:solidFill>
                  <a:schemeClr val="bg1"/>
                </a:solidFill>
                <a:latin typeface="Consolas" panose="020B0609020204030204" pitchFamily="49" charset="0"/>
              </a:rPr>
              <a:t> (Intereses == 0)</a:t>
            </a:r>
          </a:p>
          <a:p>
            <a:pPr marL="0" indent="0">
              <a:buNone/>
            </a:pPr>
            <a:r>
              <a:rPr lang="es-ES" sz="1700" dirty="0">
                <a:solidFill>
                  <a:schemeClr val="bg1"/>
                </a:solidFill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s-ES" sz="17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s-ES" sz="1700" dirty="0" err="1">
                <a:solidFill>
                  <a:schemeClr val="bg1"/>
                </a:solidFill>
                <a:latin typeface="Consolas" panose="020B0609020204030204" pitchFamily="49" charset="0"/>
              </a:rPr>
              <a:t>Console.WriteLine</a:t>
            </a:r>
            <a:r>
              <a:rPr lang="es-ES" sz="1700" dirty="0">
                <a:solidFill>
                  <a:schemeClr val="bg1"/>
                </a:solidFill>
                <a:latin typeface="Consolas" panose="020B0609020204030204" pitchFamily="49" charset="0"/>
              </a:rPr>
              <a:t>("No ha generado intereses");</a:t>
            </a:r>
          </a:p>
          <a:p>
            <a:pPr marL="0" indent="0">
              <a:buNone/>
            </a:pPr>
            <a:r>
              <a:rPr lang="es-ES" sz="1700" dirty="0">
                <a:solidFill>
                  <a:schemeClr val="bg1"/>
                </a:solidFill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s-ES" sz="1700" dirty="0">
                <a:solidFill>
                  <a:schemeClr val="bg1"/>
                </a:solidFill>
                <a:latin typeface="Consolas" panose="020B0609020204030204" pitchFamily="49" charset="0"/>
              </a:rPr>
              <a:t>    </a:t>
            </a:r>
            <a:r>
              <a:rPr lang="es-ES" sz="1700" dirty="0" err="1">
                <a:solidFill>
                  <a:schemeClr val="bg1"/>
                </a:solidFill>
                <a:latin typeface="Consolas" panose="020B0609020204030204" pitchFamily="49" charset="0"/>
              </a:rPr>
              <a:t>else</a:t>
            </a:r>
            <a:endParaRPr lang="es-ES" sz="17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sz="1700" dirty="0">
                <a:solidFill>
                  <a:schemeClr val="bg1"/>
                </a:solidFill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s-ES" sz="1700" dirty="0">
                <a:solidFill>
                  <a:schemeClr val="bg1"/>
                </a:solidFill>
                <a:latin typeface="Consolas" panose="020B0609020204030204" pitchFamily="49" charset="0"/>
              </a:rPr>
              <a:t>        </a:t>
            </a:r>
            <a:r>
              <a:rPr lang="es-ES" sz="1700" dirty="0" err="1">
                <a:solidFill>
                  <a:schemeClr val="bg1"/>
                </a:solidFill>
                <a:latin typeface="Consolas" panose="020B0609020204030204" pitchFamily="49" charset="0"/>
              </a:rPr>
              <a:t>Console.WriteLine</a:t>
            </a:r>
            <a:r>
              <a:rPr lang="es-ES" sz="1700" dirty="0">
                <a:solidFill>
                  <a:schemeClr val="bg1"/>
                </a:solidFill>
                <a:latin typeface="Consolas" panose="020B0609020204030204" pitchFamily="49" charset="0"/>
              </a:rPr>
              <a:t>($"Ha generado {Intereses}€ de </a:t>
            </a:r>
            <a:r>
              <a:rPr lang="es-ES" sz="1700" dirty="0" err="1">
                <a:solidFill>
                  <a:schemeClr val="bg1"/>
                </a:solidFill>
                <a:latin typeface="Consolas" panose="020B0609020204030204" pitchFamily="49" charset="0"/>
              </a:rPr>
              <a:t>interes</a:t>
            </a:r>
            <a:r>
              <a:rPr lang="es-ES" sz="1700" dirty="0">
                <a:solidFill>
                  <a:schemeClr val="bg1"/>
                </a:solidFill>
                <a:latin typeface="Consolas" panose="020B0609020204030204" pitchFamily="49" charset="0"/>
              </a:rPr>
              <a:t>");</a:t>
            </a:r>
          </a:p>
          <a:p>
            <a:pPr marL="0" indent="0">
              <a:buNone/>
            </a:pPr>
            <a:r>
              <a:rPr lang="es-ES" sz="1700" dirty="0">
                <a:solidFill>
                  <a:schemeClr val="bg1"/>
                </a:solidFill>
                <a:latin typeface="Consolas" panose="020B0609020204030204" pitchFamily="49" charset="0"/>
              </a:rPr>
              <a:t>     }</a:t>
            </a:r>
          </a:p>
          <a:p>
            <a:pPr marL="0" indent="0">
              <a:buNone/>
            </a:pPr>
            <a:r>
              <a:rPr lang="es-ES" sz="1700" dirty="0">
                <a:solidFill>
                  <a:schemeClr val="bg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601229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7CADD8-2505-4443-A6E5-66DB9ADBD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Crear un objeto a partir de una clase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93AD7BE-5545-4AD2-A71A-276F549AE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Creamos una variable del tipo de nuestra clase</a:t>
            </a:r>
          </a:p>
          <a:p>
            <a:endParaRPr lang="es-ES" dirty="0"/>
          </a:p>
          <a:p>
            <a:pPr marL="457200" lvl="1" indent="0" algn="ctr">
              <a:buNone/>
            </a:pPr>
            <a:r>
              <a:rPr lang="es-ES" dirty="0" err="1"/>
              <a:t>NombreClase</a:t>
            </a:r>
            <a:r>
              <a:rPr lang="es-ES" dirty="0"/>
              <a:t> </a:t>
            </a:r>
            <a:r>
              <a:rPr lang="es-ES" dirty="0" err="1"/>
              <a:t>nombreVariable</a:t>
            </a:r>
            <a:endParaRPr lang="es-ES" dirty="0"/>
          </a:p>
          <a:p>
            <a:pPr marL="457200" lvl="1" indent="0" algn="ctr">
              <a:buNone/>
            </a:pPr>
            <a:r>
              <a:rPr lang="es-ES" dirty="0">
                <a:latin typeface="Consolas" panose="020B0609020204030204" pitchFamily="49" charset="0"/>
              </a:rPr>
              <a:t>Cuenta </a:t>
            </a:r>
            <a:r>
              <a:rPr lang="es-ES" dirty="0" err="1">
                <a:latin typeface="Consolas" panose="020B0609020204030204" pitchFamily="49" charset="0"/>
              </a:rPr>
              <a:t>miCuenta</a:t>
            </a:r>
            <a:endParaRPr lang="es-ES" dirty="0">
              <a:latin typeface="Consolas" panose="020B0609020204030204" pitchFamily="49" charset="0"/>
            </a:endParaRPr>
          </a:p>
          <a:p>
            <a:pPr marL="457200" lvl="1" indent="0" algn="ctr">
              <a:buNone/>
            </a:pPr>
            <a:endParaRPr lang="es-ES" dirty="0">
              <a:latin typeface="Consolas" panose="020B0609020204030204" pitchFamily="49" charset="0"/>
            </a:endParaRPr>
          </a:p>
          <a:p>
            <a:r>
              <a:rPr lang="es-ES" dirty="0"/>
              <a:t>Para poder tener acceso a las propiedades, métodos… de una clase debes crear un objeto de esa clase instanciando la variable</a:t>
            </a:r>
          </a:p>
          <a:p>
            <a:endParaRPr lang="es-ES" dirty="0"/>
          </a:p>
          <a:p>
            <a:pPr marL="457200" lvl="1" indent="0" algn="ctr">
              <a:buNone/>
            </a:pPr>
            <a:r>
              <a:rPr lang="es-ES" dirty="0" err="1"/>
              <a:t>nombreVariable</a:t>
            </a:r>
            <a:r>
              <a:rPr lang="es-ES" dirty="0"/>
              <a:t> = new </a:t>
            </a:r>
            <a:r>
              <a:rPr lang="es-ES" dirty="0" err="1"/>
              <a:t>NombreClase</a:t>
            </a:r>
            <a:r>
              <a:rPr lang="es-ES" dirty="0"/>
              <a:t>(campos del constructor)</a:t>
            </a:r>
          </a:p>
          <a:p>
            <a:pPr marL="457200" lvl="1" indent="0" algn="ctr">
              <a:buNone/>
            </a:pPr>
            <a:r>
              <a:rPr lang="es-ES" dirty="0" err="1">
                <a:latin typeface="Consolas" panose="020B0609020204030204" pitchFamily="49" charset="0"/>
              </a:rPr>
              <a:t>miCuenta</a:t>
            </a:r>
            <a:r>
              <a:rPr lang="es-ES" dirty="0">
                <a:latin typeface="Consolas" panose="020B0609020204030204" pitchFamily="49" charset="0"/>
              </a:rPr>
              <a:t> = new Cuenta(“Maider Diaz Salinas”, 0.00)</a:t>
            </a:r>
          </a:p>
          <a:p>
            <a:pPr marL="457200" lvl="1" indent="0" algn="ctr">
              <a:buNone/>
            </a:pPr>
            <a:endParaRPr lang="es-E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3872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9C6281-58EA-1750-BDD3-4DAE0EC23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Acceder a las propiedades, métodos y eventos de una clase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D4E757-48EA-9F43-E5C0-F533A8F0F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308" y="2099934"/>
            <a:ext cx="10515383" cy="3713038"/>
          </a:xfrm>
        </p:spPr>
        <p:txBody>
          <a:bodyPr>
            <a:normAutofit/>
          </a:bodyPr>
          <a:lstStyle/>
          <a:p>
            <a:pPr>
              <a:buClr>
                <a:srgbClr val="7F7F7F"/>
              </a:buClr>
              <a:buFont typeface="Microsoft YaHei" panose="020B0503020204020204" pitchFamily="34" charset="-122"/>
              <a:buChar char="●"/>
            </a:pPr>
            <a:r>
              <a:rPr lang="es-ES" sz="2400" dirty="0"/>
              <a:t>Simplemente tenemos que poner el nombre de la variable seguida de un punto y el nombre de la propiedad, función o evento al que queremos acceder. Podremos hacerlo siempre y cuando sean </a:t>
            </a:r>
            <a:r>
              <a:rPr lang="es-ES" sz="2400" dirty="0" err="1"/>
              <a:t>pueblicos</a:t>
            </a:r>
            <a:r>
              <a:rPr lang="es-ES" sz="2400" dirty="0"/>
              <a:t>.</a:t>
            </a:r>
          </a:p>
          <a:p>
            <a:pPr>
              <a:buFont typeface="Microsoft YaHei" panose="020B0503020204020204" pitchFamily="34" charset="-122"/>
              <a:buChar char="●"/>
            </a:pPr>
            <a:endParaRPr lang="es-ES" sz="2400" dirty="0"/>
          </a:p>
          <a:p>
            <a:pPr marL="0" indent="0">
              <a:buNone/>
              <a:tabLst>
                <a:tab pos="809625" algn="l"/>
              </a:tabLst>
            </a:pPr>
            <a:r>
              <a:rPr lang="es-ES" sz="2400" dirty="0">
                <a:latin typeface="Consolas" panose="020B0609020204030204" pitchFamily="49" charset="0"/>
              </a:rPr>
              <a:t>	</a:t>
            </a:r>
            <a:r>
              <a:rPr lang="es-ES" sz="2400" dirty="0" err="1">
                <a:latin typeface="Consolas" panose="020B0609020204030204" pitchFamily="49" charset="0"/>
              </a:rPr>
              <a:t>miCuenta.Cantidad</a:t>
            </a:r>
            <a:r>
              <a:rPr lang="es-ES" sz="2400" dirty="0">
                <a:latin typeface="Consolas" panose="020B0609020204030204" pitchFamily="49" charset="0"/>
              </a:rPr>
              <a:t>=1000</a:t>
            </a:r>
          </a:p>
          <a:p>
            <a:pPr marL="0" indent="0">
              <a:buNone/>
              <a:tabLst>
                <a:tab pos="809625" algn="l"/>
              </a:tabLst>
            </a:pPr>
            <a:r>
              <a:rPr lang="es-ES" sz="2400" dirty="0">
                <a:latin typeface="Consolas" panose="020B0609020204030204" pitchFamily="49" charset="0"/>
              </a:rPr>
              <a:t>	</a:t>
            </a:r>
            <a:r>
              <a:rPr lang="es-ES" sz="2400" dirty="0" err="1">
                <a:latin typeface="Consolas" panose="020B0609020204030204" pitchFamily="49" charset="0"/>
              </a:rPr>
              <a:t>miCuenta.Titular</a:t>
            </a:r>
            <a:r>
              <a:rPr lang="es-ES" sz="2400" dirty="0">
                <a:latin typeface="Consolas" panose="020B0609020204030204" pitchFamily="49" charset="0"/>
              </a:rPr>
              <a:t>=“David Pérez García”</a:t>
            </a:r>
          </a:p>
          <a:p>
            <a:pPr marL="0" indent="0">
              <a:buNone/>
              <a:tabLst>
                <a:tab pos="809625" algn="l"/>
              </a:tabLst>
            </a:pPr>
            <a:r>
              <a:rPr lang="es-ES" sz="2400" dirty="0">
                <a:latin typeface="Consolas" panose="020B0609020204030204" pitchFamily="49" charset="0"/>
              </a:rPr>
              <a:t>	</a:t>
            </a:r>
            <a:r>
              <a:rPr lang="es-ES" sz="2400" dirty="0" err="1">
                <a:latin typeface="Consolas" panose="020B0609020204030204" pitchFamily="49" charset="0"/>
              </a:rPr>
              <a:t>miCuenta.TieneIntereses</a:t>
            </a:r>
            <a:r>
              <a:rPr lang="es-ES" sz="2400" dirty="0">
                <a:latin typeface="Consolas" panose="020B0609020204030204" pitchFamily="49" charset="0"/>
              </a:rPr>
              <a:t>() //No ha generado intereses</a:t>
            </a:r>
          </a:p>
          <a:p>
            <a:pPr marL="0" indent="0">
              <a:buNone/>
            </a:pP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16977548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A45E29-5A82-2D29-682B-A7465A655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Como hacer una clase </a:t>
            </a:r>
            <a:r>
              <a:rPr lang="es-ES" dirty="0" err="1"/>
              <a:t>singleton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0AB249-67CC-9F1A-BA74-0464D01CD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5747" y="1825613"/>
            <a:ext cx="7327232" cy="435142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ES" dirty="0" err="1">
                <a:latin typeface="Consolas" panose="020B0609020204030204" pitchFamily="49" charset="0"/>
              </a:rPr>
              <a:t>class</a:t>
            </a:r>
            <a:r>
              <a:rPr lang="es-ES" dirty="0">
                <a:latin typeface="Consolas" panose="020B0609020204030204" pitchFamily="49" charset="0"/>
              </a:rPr>
              <a:t> </a:t>
            </a:r>
            <a:r>
              <a:rPr lang="es-ES" dirty="0" err="1">
                <a:latin typeface="Consolas" panose="020B0609020204030204" pitchFamily="49" charset="0"/>
              </a:rPr>
              <a:t>MiSingleton</a:t>
            </a:r>
            <a:endParaRPr lang="es-E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    //Campo privado estático para guardar la única instancia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private static </a:t>
            </a:r>
            <a:r>
              <a:rPr lang="en-US" dirty="0" err="1">
                <a:latin typeface="Consolas" panose="020B0609020204030204" pitchFamily="49" charset="0"/>
              </a:rPr>
              <a:t>readonly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MiSingleton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instancia</a:t>
            </a:r>
            <a:r>
              <a:rPr lang="en-US" dirty="0">
                <a:latin typeface="Consolas" panose="020B0609020204030204" pitchFamily="49" charset="0"/>
              </a:rPr>
              <a:t> = new </a:t>
            </a:r>
            <a:r>
              <a:rPr lang="en-US" dirty="0" err="1">
                <a:latin typeface="Consolas" panose="020B0609020204030204" pitchFamily="49" charset="0"/>
              </a:rPr>
              <a:t>MiSingleton</a:t>
            </a:r>
            <a:r>
              <a:rPr lang="en-US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    </a:t>
            </a:r>
            <a:r>
              <a:rPr lang="es-ES" dirty="0" err="1">
                <a:latin typeface="Consolas" panose="020B0609020204030204" pitchFamily="49" charset="0"/>
              </a:rPr>
              <a:t>private</a:t>
            </a:r>
            <a:r>
              <a:rPr lang="es-ES" dirty="0">
                <a:latin typeface="Consolas" panose="020B0609020204030204" pitchFamily="49" charset="0"/>
              </a:rPr>
              <a:t> </a:t>
            </a:r>
            <a:r>
              <a:rPr lang="es-ES" dirty="0" err="1">
                <a:latin typeface="Consolas" panose="020B0609020204030204" pitchFamily="49" charset="0"/>
              </a:rPr>
              <a:t>MiSingleton</a:t>
            </a:r>
            <a:r>
              <a:rPr lang="es-ES" dirty="0">
                <a:latin typeface="Consolas" panose="020B0609020204030204" pitchFamily="49" charset="0"/>
              </a:rPr>
              <a:t>() { }</a:t>
            </a:r>
          </a:p>
          <a:p>
            <a:pPr marL="0" indent="0">
              <a:buNone/>
            </a:pPr>
            <a:endParaRPr lang="es-E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    //Propiedad pública para acceder a la instancia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public static </a:t>
            </a:r>
            <a:r>
              <a:rPr lang="en-US" dirty="0" err="1">
                <a:latin typeface="Consolas" panose="020B0609020204030204" pitchFamily="49" charset="0"/>
              </a:rPr>
              <a:t>MiSingleton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Instancia</a:t>
            </a:r>
            <a:r>
              <a:rPr lang="en-US" dirty="0">
                <a:latin typeface="Consolas" panose="020B0609020204030204" pitchFamily="49" charset="0"/>
              </a:rPr>
              <a:t> { get { return </a:t>
            </a:r>
            <a:r>
              <a:rPr lang="en-US" dirty="0" err="1">
                <a:latin typeface="Consolas" panose="020B0609020204030204" pitchFamily="49" charset="0"/>
              </a:rPr>
              <a:t>instancia</a:t>
            </a:r>
            <a:r>
              <a:rPr lang="en-US" dirty="0">
                <a:latin typeface="Consolas" panose="020B0609020204030204" pitchFamily="49" charset="0"/>
              </a:rPr>
              <a:t>; } }</a:t>
            </a:r>
          </a:p>
          <a:p>
            <a:pPr marL="0" indent="0">
              <a:buNone/>
            </a:pPr>
            <a:endParaRPr lang="es-E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    </a:t>
            </a:r>
            <a:r>
              <a:rPr lang="es-ES" dirty="0" err="1">
                <a:latin typeface="Consolas" panose="020B0609020204030204" pitchFamily="49" charset="0"/>
              </a:rPr>
              <a:t>public</a:t>
            </a:r>
            <a:r>
              <a:rPr lang="es-ES" dirty="0">
                <a:latin typeface="Consolas" panose="020B0609020204030204" pitchFamily="49" charset="0"/>
              </a:rPr>
              <a:t> </a:t>
            </a:r>
            <a:r>
              <a:rPr lang="es-ES" dirty="0" err="1">
                <a:latin typeface="Consolas" panose="020B0609020204030204" pitchFamily="49" charset="0"/>
              </a:rPr>
              <a:t>void</a:t>
            </a:r>
            <a:r>
              <a:rPr lang="es-ES" dirty="0">
                <a:latin typeface="Consolas" panose="020B0609020204030204" pitchFamily="49" charset="0"/>
              </a:rPr>
              <a:t> </a:t>
            </a:r>
            <a:r>
              <a:rPr lang="es-ES" dirty="0" err="1">
                <a:latin typeface="Consolas" panose="020B0609020204030204" pitchFamily="49" charset="0"/>
              </a:rPr>
              <a:t>MostrarMensaje</a:t>
            </a:r>
            <a:r>
              <a:rPr lang="es-ES" dirty="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        </a:t>
            </a:r>
            <a:r>
              <a:rPr lang="es-ES" dirty="0" err="1">
                <a:latin typeface="Consolas" panose="020B0609020204030204" pitchFamily="49" charset="0"/>
              </a:rPr>
              <a:t>Console.WriteLine</a:t>
            </a:r>
            <a:r>
              <a:rPr lang="es-ES" dirty="0">
                <a:latin typeface="Consolas" panose="020B0609020204030204" pitchFamily="49" charset="0"/>
              </a:rPr>
              <a:t>("¡Soy el único </a:t>
            </a:r>
            <a:r>
              <a:rPr lang="es-ES" dirty="0" err="1">
                <a:latin typeface="Consolas" panose="020B0609020204030204" pitchFamily="49" charset="0"/>
              </a:rPr>
              <a:t>Singleton</a:t>
            </a:r>
            <a:r>
              <a:rPr lang="es-ES" dirty="0">
                <a:latin typeface="Consolas" panose="020B0609020204030204" pitchFamily="49" charset="0"/>
              </a:rPr>
              <a:t>!");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25F67E81-9E9C-FAF3-7896-672DE55D658F}"/>
              </a:ext>
            </a:extLst>
          </p:cNvPr>
          <p:cNvSpPr txBox="1">
            <a:spLocks/>
          </p:cNvSpPr>
          <p:nvPr/>
        </p:nvSpPr>
        <p:spPr>
          <a:xfrm>
            <a:off x="693822" y="1825613"/>
            <a:ext cx="3553325" cy="457518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>
            <a:normAutofit lnSpcReduction="10000"/>
          </a:bodyPr>
          <a:lstStyle>
            <a:lvl1pPr marL="171461" marR="0" lvl="0" indent="-171461" algn="l" rtl="0" eaLnBrk="1" hangingPunct="1">
              <a:lnSpc>
                <a:spcPct val="90000"/>
              </a:lnSpc>
              <a:spcBef>
                <a:spcPts val="748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es-ES" sz="2105" b="0" i="0" u="none" strike="noStrike" kern="1200" cap="none" spc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1pPr>
            <a:lvl2pPr marL="514382" marR="0" lvl="1" indent="-171461" algn="l" rtl="0" eaLnBrk="1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es-ES" sz="1796" b="0" i="0" u="none" strike="noStrike" kern="1200" cap="none" spc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2pPr>
            <a:lvl3pPr marL="857304" marR="0" lvl="2" indent="-171461" algn="l" rtl="0" eaLnBrk="1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es-ES" sz="1506" b="0" i="0" u="none" strike="noStrike" kern="1200" cap="none" spc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3pPr>
            <a:lvl4pPr marL="1200226" marR="0" lvl="3" indent="-171461" algn="l" rtl="0" eaLnBrk="1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SzPct val="75000"/>
              <a:buFont typeface="StarSymbol"/>
              <a:buChar char="–"/>
              <a:tabLst/>
              <a:defRPr lang="es-ES" sz="1352" b="0" i="0" u="none" strike="noStrike" kern="1200" cap="none" spc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4pPr>
            <a:lvl5pPr marL="1543146" marR="0" lvl="4" indent="-171461" algn="l" rtl="0" eaLnBrk="1" hangingPunct="1">
              <a:lnSpc>
                <a:spcPct val="90000"/>
              </a:lnSpc>
              <a:spcBef>
                <a:spcPts val="376"/>
              </a:spcBef>
              <a:spcAft>
                <a:spcPts val="0"/>
              </a:spcAft>
              <a:buSzPct val="45000"/>
              <a:buFont typeface="StarSymbol"/>
              <a:buChar char="●"/>
              <a:tabLst/>
              <a:defRPr lang="es-ES" sz="1352" b="0" i="0" u="none" strike="noStrike" kern="1200" cap="none" spc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highlight>
                  <a:scrgbClr r="0" g="0" b="0">
                    <a:alpha val="0"/>
                  </a:scrgbClr>
                </a:highlight>
                <a:latin typeface="Calibri" pitchFamily="18"/>
                <a:ea typeface="Microsoft YaHei" pitchFamily="2"/>
                <a:cs typeface="Lucida Sans" pitchFamily="2"/>
              </a:defRPr>
            </a:lvl5pPr>
            <a:lvl6pPr marL="2281245" indent="-207386" algn="l" defTabSz="829544" rtl="0" eaLnBrk="1" latinLnBrk="0" hangingPunct="1">
              <a:lnSpc>
                <a:spcPct val="90000"/>
              </a:lnSpc>
              <a:spcBef>
                <a:spcPts val="454"/>
              </a:spcBef>
              <a:buFont typeface="Arial" panose="020B0604020202020204" pitchFamily="34" charset="0"/>
              <a:buChar char="•"/>
              <a:defRPr sz="16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96017" indent="-207386" algn="l" defTabSz="829544" rtl="0" eaLnBrk="1" latinLnBrk="0" hangingPunct="1">
              <a:lnSpc>
                <a:spcPct val="90000"/>
              </a:lnSpc>
              <a:spcBef>
                <a:spcPts val="454"/>
              </a:spcBef>
              <a:buFont typeface="Arial" panose="020B0604020202020204" pitchFamily="34" charset="0"/>
              <a:buChar char="•"/>
              <a:defRPr sz="16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10789" indent="-207386" algn="l" defTabSz="829544" rtl="0" eaLnBrk="1" latinLnBrk="0" hangingPunct="1">
              <a:lnSpc>
                <a:spcPct val="90000"/>
              </a:lnSpc>
              <a:spcBef>
                <a:spcPts val="454"/>
              </a:spcBef>
              <a:buFont typeface="Arial" panose="020B0604020202020204" pitchFamily="34" charset="0"/>
              <a:buChar char="•"/>
              <a:defRPr sz="16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25561" indent="-207386" algn="l" defTabSz="829544" rtl="0" eaLnBrk="1" latinLnBrk="0" hangingPunct="1">
              <a:lnSpc>
                <a:spcPct val="90000"/>
              </a:lnSpc>
              <a:spcBef>
                <a:spcPts val="454"/>
              </a:spcBef>
              <a:buFont typeface="Arial" panose="020B0604020202020204" pitchFamily="34" charset="0"/>
              <a:buChar char="•"/>
              <a:defRPr sz="16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La clase </a:t>
            </a:r>
            <a:r>
              <a:rPr lang="es-ES" dirty="0" err="1"/>
              <a:t>singleton</a:t>
            </a:r>
            <a:r>
              <a:rPr lang="es-ES" dirty="0"/>
              <a:t> solo se puede instanciar una vez.</a:t>
            </a:r>
          </a:p>
          <a:p>
            <a:r>
              <a:rPr lang="es-ES" dirty="0"/>
              <a:t>Los miembros declarados como </a:t>
            </a:r>
            <a:r>
              <a:rPr lang="es-ES" dirty="0" err="1"/>
              <a:t>static</a:t>
            </a:r>
            <a:r>
              <a:rPr lang="es-ES" dirty="0"/>
              <a:t> son miembros compartidos y solo existen una vez, independientemente del número de instancias de su clase.</a:t>
            </a:r>
          </a:p>
          <a:p>
            <a:r>
              <a:rPr lang="es-ES" dirty="0"/>
              <a:t>Debemos tener un constructor privado, porque si no tiene ninguno al compilar crea uno público y entonces podríamos crear instancias y no sería </a:t>
            </a:r>
            <a:r>
              <a:rPr lang="es-ES" dirty="0" err="1"/>
              <a:t>singleton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60745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6B03F2-3E72-6E02-CB4B-7680A7AA0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Como usar la clase </a:t>
            </a:r>
            <a:r>
              <a:rPr lang="es-ES" dirty="0" err="1"/>
              <a:t>singleton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5DB651-6E29-0A37-3AE4-364052FF3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Definimos el objeto</a:t>
            </a:r>
          </a:p>
          <a:p>
            <a:r>
              <a:rPr lang="es-ES" sz="2400" dirty="0"/>
              <a:t>Usamos el método compartido </a:t>
            </a:r>
            <a:r>
              <a:rPr lang="es-ES" sz="2400" dirty="0" err="1"/>
              <a:t>Instance</a:t>
            </a:r>
            <a:r>
              <a:rPr lang="es-ES" sz="2400" dirty="0"/>
              <a:t> para conseguir la instancia del objeto.</a:t>
            </a:r>
          </a:p>
          <a:p>
            <a:r>
              <a:rPr lang="es-ES" sz="2400" dirty="0"/>
              <a:t>Una vez conseguida la instancia podemos acceder a sus propiedades o métodos. </a:t>
            </a:r>
          </a:p>
          <a:p>
            <a:endParaRPr lang="es-ES" sz="2400" dirty="0"/>
          </a:p>
          <a:p>
            <a:pPr marL="0" indent="0">
              <a:buNone/>
            </a:pPr>
            <a:endParaRPr lang="es-ES" sz="2400" dirty="0"/>
          </a:p>
          <a:p>
            <a:pPr marL="0" indent="0">
              <a:buNone/>
            </a:pPr>
            <a:r>
              <a:rPr lang="es-ES" sz="20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s-ES" dirty="0" err="1">
                <a:latin typeface="Consolas" panose="020B0609020204030204" pitchFamily="49" charset="0"/>
              </a:rPr>
              <a:t>MiSingleton</a:t>
            </a:r>
            <a:r>
              <a:rPr lang="es-ES" dirty="0">
                <a:latin typeface="Consolas" panose="020B0609020204030204" pitchFamily="49" charset="0"/>
              </a:rPr>
              <a:t> s = </a:t>
            </a:r>
            <a:r>
              <a:rPr lang="es-ES" dirty="0" err="1">
                <a:latin typeface="Consolas" panose="020B0609020204030204" pitchFamily="49" charset="0"/>
              </a:rPr>
              <a:t>MiSingleton.Instancia</a:t>
            </a:r>
            <a:r>
              <a:rPr lang="es-ES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s-ES" dirty="0">
                <a:latin typeface="Consolas" panose="020B0609020204030204" pitchFamily="49" charset="0"/>
              </a:rPr>
              <a:t>      </a:t>
            </a:r>
            <a:r>
              <a:rPr lang="es-ES" dirty="0" err="1">
                <a:latin typeface="Consolas" panose="020B0609020204030204" pitchFamily="49" charset="0"/>
              </a:rPr>
              <a:t>s.MostrarMensaje</a:t>
            </a:r>
            <a:r>
              <a:rPr lang="es-ES" dirty="0">
                <a:latin typeface="Consolas" panose="020B0609020204030204" pitchFamily="49" charset="0"/>
              </a:rPr>
              <a:t>();</a:t>
            </a:r>
            <a:endParaRPr lang="es-ES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91397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09CC1D-E818-8EB6-ED2E-FA27EAE26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Ejercicio 4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41DEBB7-880C-00E7-F849-33FA52D0A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 rtl="0">
              <a:lnSpc>
                <a:spcPct val="150000"/>
              </a:lnSpc>
              <a:buNone/>
            </a:pPr>
            <a:r>
              <a:rPr lang="es-ES" sz="1800" dirty="0">
                <a:effectLst/>
                <a:latin typeface="Arial, sans-serif"/>
              </a:rPr>
              <a:t>Realizar un programa que guarde los datos de los departamentos de nuestra empresa. </a:t>
            </a:r>
          </a:p>
          <a:p>
            <a:pPr marL="0" indent="0" algn="just" rtl="0">
              <a:lnSpc>
                <a:spcPct val="150000"/>
              </a:lnSpc>
              <a:buNone/>
            </a:pPr>
            <a:r>
              <a:rPr lang="es-ES" sz="1800" dirty="0">
                <a:effectLst/>
                <a:latin typeface="Arial, sans-serif"/>
              </a:rPr>
              <a:t>De cada departamento queremos saber el nombre del departamento, persona responsable del departamento y las personas empleadas.</a:t>
            </a:r>
          </a:p>
          <a:p>
            <a:pPr marL="0" indent="0" algn="just" rtl="0">
              <a:lnSpc>
                <a:spcPct val="150000"/>
              </a:lnSpc>
              <a:buNone/>
            </a:pPr>
            <a:r>
              <a:rPr lang="es-ES" sz="1800" dirty="0">
                <a:effectLst/>
                <a:latin typeface="Arial, sans-serif"/>
              </a:rPr>
              <a:t>De cada persona queremos saber su nombre, primer apellido y segundo apellido, además de en qué departamento trabaja.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s-ES" sz="1800" dirty="0">
                <a:effectLst/>
                <a:latin typeface="Arial, sans-serif"/>
              </a:rPr>
              <a:t>No en todos los departamentos habrá el mismo número de personas trabajando. </a:t>
            </a:r>
            <a:endParaRPr lang="es-ES" dirty="0">
              <a:effectLst/>
            </a:endParaRPr>
          </a:p>
          <a:p>
            <a:pPr marL="0" indent="0" algn="just" rtl="0">
              <a:lnSpc>
                <a:spcPct val="150000"/>
              </a:lnSpc>
              <a:buNone/>
            </a:pPr>
            <a:r>
              <a:rPr lang="es-ES" sz="1800" dirty="0">
                <a:effectLst/>
                <a:latin typeface="Arial, sans-serif"/>
              </a:rPr>
              <a:t>Una vez insertados todos los datos, los visualizaremos.</a:t>
            </a:r>
            <a:endParaRPr lang="es-E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25278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2" id="{52767894-79CF-487A-A88F-7F2A2984F71F}" vid="{44F84A37-0B86-47AB-8078-14535511E034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Tema2</Template>
  <TotalTime>1620</TotalTime>
  <Words>3376</Words>
  <Application>Microsoft Office PowerPoint</Application>
  <PresentationFormat>Panorámica</PresentationFormat>
  <Paragraphs>521</Paragraphs>
  <Slides>47</Slides>
  <Notes>0</Notes>
  <HiddenSlides>1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47</vt:i4>
      </vt:variant>
    </vt:vector>
  </HeadingPairs>
  <TitlesOfParts>
    <vt:vector size="58" baseType="lpstr">
      <vt:lpstr>Microsoft YaHei</vt:lpstr>
      <vt:lpstr>Aptos</vt:lpstr>
      <vt:lpstr>Arial</vt:lpstr>
      <vt:lpstr>Arial, sans-serif</vt:lpstr>
      <vt:lpstr>Calibri</vt:lpstr>
      <vt:lpstr>Consolas</vt:lpstr>
      <vt:lpstr>Liberation Sans</vt:lpstr>
      <vt:lpstr>Liberation Serif</vt:lpstr>
      <vt:lpstr>StarSymbol</vt:lpstr>
      <vt:lpstr>Wingdings 3</vt:lpstr>
      <vt:lpstr>Tema2</vt:lpstr>
      <vt:lpstr>Introducción a c#.net</vt:lpstr>
      <vt:lpstr>Declaración de variables I</vt:lpstr>
      <vt:lpstr>Declaración de variables II</vt:lpstr>
      <vt:lpstr>Declaración de variables III</vt:lpstr>
      <vt:lpstr>Declaración de constantes</vt:lpstr>
      <vt:lpstr>Asignación de valores</vt:lpstr>
      <vt:lpstr>Mostrar datos por pantalla I</vt:lpstr>
      <vt:lpstr>Conversión de tipos I</vt:lpstr>
      <vt:lpstr>Conversión de tipos II : TryParse</vt:lpstr>
      <vt:lpstr>Comentarios</vt:lpstr>
      <vt:lpstr>Operadores aritméticos</vt:lpstr>
      <vt:lpstr>Operadores condicionales y lógicos</vt:lpstr>
      <vt:lpstr>Expresiones condicionales I: If</vt:lpstr>
      <vt:lpstr>Expresiones condicionales II : Operador ternario</vt:lpstr>
      <vt:lpstr>Expresiones condicionales III: Switch</vt:lpstr>
      <vt:lpstr>Bucles I: While</vt:lpstr>
      <vt:lpstr>Bucles I: Do…While</vt:lpstr>
      <vt:lpstr>Bucles III: For</vt:lpstr>
      <vt:lpstr>Excepciones</vt:lpstr>
      <vt:lpstr>Ejercicio 1</vt:lpstr>
      <vt:lpstr>Métodos I</vt:lpstr>
      <vt:lpstr>Métodos II: Parámetros</vt:lpstr>
      <vt:lpstr>Métodos III: Accesibilidad</vt:lpstr>
      <vt:lpstr>Ejercicio 2</vt:lpstr>
      <vt:lpstr>Arrays estáticos unidimensionales I</vt:lpstr>
      <vt:lpstr>Arrays estáticos unidimensionales II</vt:lpstr>
      <vt:lpstr>Arrays multidimensionales I</vt:lpstr>
      <vt:lpstr>Arrays multidimensionales II</vt:lpstr>
      <vt:lpstr>Matrices escalonadas I</vt:lpstr>
      <vt:lpstr>Matrices escalonadas II</vt:lpstr>
      <vt:lpstr>Métodos de los arrays</vt:lpstr>
      <vt:lpstr>Arrays dinámicos o colecciones: listas I</vt:lpstr>
      <vt:lpstr>Arrays dinámicos o colecciones: listas II</vt:lpstr>
      <vt:lpstr>Arrays dinámicos o colecciones: listas III</vt:lpstr>
      <vt:lpstr>Arrays dinámicos o colecciones IV: Diccionarios</vt:lpstr>
      <vt:lpstr>foreach</vt:lpstr>
      <vt:lpstr>Ejercicio 3</vt:lpstr>
      <vt:lpstr>Clases</vt:lpstr>
      <vt:lpstr>Definir la clase, campos y constructores</vt:lpstr>
      <vt:lpstr>Definir el get y set de los campos</vt:lpstr>
      <vt:lpstr>Clases implementadas automáticamente </vt:lpstr>
      <vt:lpstr>Definir métodos</vt:lpstr>
      <vt:lpstr>Crear un objeto a partir de una clase</vt:lpstr>
      <vt:lpstr>Acceder a las propiedades, métodos y eventos de una clase</vt:lpstr>
      <vt:lpstr>Como hacer una clase singleton</vt:lpstr>
      <vt:lpstr>Como usar la clase singleton</vt:lpstr>
      <vt:lpstr>Ejercicio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Hezitzaile</dc:creator>
  <cp:lastModifiedBy>Maider Diaz</cp:lastModifiedBy>
  <cp:revision>63</cp:revision>
  <dcterms:created xsi:type="dcterms:W3CDTF">2020-09-01T07:24:00Z</dcterms:created>
  <dcterms:modified xsi:type="dcterms:W3CDTF">2025-10-27T20:32:27Z</dcterms:modified>
</cp:coreProperties>
</file>